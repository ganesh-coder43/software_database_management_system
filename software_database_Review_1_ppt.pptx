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6" r:id="rId3"/>
    <p:sldId id="267" r:id="rId4"/>
    <p:sldId id="268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2905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9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4937760" cy="4937760"/>
          </a:xfrm>
          <a:prstGeom prst="ellipse">
            <a:avLst/>
          </a:prstGeom>
          <a:ln w="15875">
            <a:solidFill>
              <a:srgbClr val="3450A0">
                <a:alpha val="6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9509760" y="-822960"/>
            <a:ext cx="3657600" cy="3657600"/>
          </a:xfrm>
          <a:prstGeom prst="ellipse">
            <a:avLst/>
          </a:prstGeom>
          <a:ln w="15875">
            <a:solidFill>
              <a:srgbClr val="7C3AED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9829800" y="685800"/>
            <a:ext cx="1371600" cy="1371600"/>
          </a:xfrm>
          <a:prstGeom prst="ellipse">
            <a:avLst/>
          </a:prstGeom>
          <a:solidFill>
            <a:srgbClr val="1B245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5" name="Image 0" descr="/home/claude/asset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2700" y="1028700"/>
            <a:ext cx="685800" cy="685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829800" y="685800"/>
            <a:ext cx="1371600" cy="1371600"/>
          </a:xfrm>
          <a:prstGeom prst="ellipse">
            <a:avLst/>
          </a:prstGeom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640080" y="594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UNIVERSITY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914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AB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Artificial Intelligence &amp; Machine Learning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1417320"/>
            <a:ext cx="2971800" cy="384048"/>
          </a:xfrm>
          <a:prstGeom prst="roundRect">
            <a:avLst>
              <a:gd name="adj" fmla="val 50000"/>
            </a:avLst>
          </a:prstGeom>
          <a:solidFill>
            <a:srgbClr val="1B2456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640080" y="1417320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C9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 •  REVIEW I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94360" y="205740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MANAGEMENT</a:t>
            </a:r>
            <a:endParaRPr lang="en-US" sz="48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SYSTEM</a:t>
            </a:r>
            <a:endParaRPr lang="en-US" sz="4800" dirty="0"/>
          </a:p>
        </p:txBody>
      </p:sp>
      <p:sp>
        <p:nvSpPr>
          <p:cNvPr id="12" name="Text 9"/>
          <p:cNvSpPr/>
          <p:nvPr/>
        </p:nvSpPr>
        <p:spPr>
          <a:xfrm>
            <a:off x="640080" y="37490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C4D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relational model for managing projects, people, products, requirements and software issues.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40080" y="4434840"/>
            <a:ext cx="10881360" cy="0"/>
          </a:xfrm>
          <a:prstGeom prst="line">
            <a:avLst/>
          </a:prstGeom>
          <a:noFill/>
          <a:ln w="12700">
            <a:solidFill>
              <a:srgbClr val="2A39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1"/>
          <p:cNvSpPr/>
          <p:nvPr/>
        </p:nvSpPr>
        <p:spPr>
          <a:xfrm>
            <a:off x="640080" y="4736592"/>
            <a:ext cx="45720" cy="20116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777240" y="4709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40080" y="5001768"/>
            <a:ext cx="3429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25B11AIB48 — S. Aravinda Reddy</a:t>
            </a:r>
          </a:p>
          <a:p>
            <a:pPr>
              <a:lnSpc>
                <a:spcPct val="125000"/>
              </a:lnSpc>
            </a:pPr>
            <a:r>
              <a:rPr lang="en-US" sz="11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25B11AI537 — K.V. Sai Ganesh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25B11AI658 — M. Gangadhar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25B11AIB99 — T Eswar Vardhan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26B21AI151  --- </a:t>
            </a:r>
            <a:r>
              <a:rPr lang="en-US" sz="1100" dirty="0" err="1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V.Satya</a:t>
            </a:r>
            <a:r>
              <a:rPr lang="en-US" sz="11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Sai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297680" y="4736592"/>
            <a:ext cx="45720" cy="20116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4434840" y="4709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297680" y="5001768"/>
            <a:ext cx="3429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P Kishorekumar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 Professor, AIML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955280" y="4736592"/>
            <a:ext cx="45720" cy="201168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8092440" y="4709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7955280" y="5001768"/>
            <a:ext cx="3429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C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– 2027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MANAGEMENT DATABASE SYSTEM  •  REVIEW I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368735" y="62910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dirty="0"/>
              <a:t>01</a:t>
            </a: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02 / INTRODUCTION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75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2600" b="1">
                <a:solidFill>
                  <a:srgbClr val="18212F"/>
                </a:solidFill>
                <a:latin typeface="Aptos"/>
              </a:rPr>
              <a:t>Introduction</a:t>
            </a:r>
            <a:endParaRPr lang="en-US" sz="3000" dirty="0"/>
          </a:p>
        </p:txBody>
      </p:sp>
      <p:sp>
        <p:nvSpPr>
          <p:cNvPr id="19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MANAGEMENT DATABASE SYSTEM  •  REVIEW I</a:t>
            </a:r>
            <a:endParaRPr lang="en-US" sz="900" dirty="0"/>
          </a:p>
        </p:txBody>
      </p:sp>
      <p:sp>
        <p:nvSpPr>
          <p:cNvPr id="22" name="Rounded Rectangle 21"/>
          <p:cNvSpPr/>
          <p:nvPr/>
        </p:nvSpPr>
        <p:spPr>
          <a:xfrm>
            <a:off x="822960" y="1874519"/>
            <a:ext cx="10561320" cy="38862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97280" y="2240280"/>
            <a:ext cx="73152" cy="2651760"/>
          </a:xfrm>
          <a:prstGeom prst="round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417320" y="2176272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663EB"/>
                </a:solidFill>
                <a:latin typeface="Aptos"/>
              </a:rPr>
              <a:t>INTRODUCTION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2505456"/>
            <a:ext cx="932688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18212F"/>
                </a:solidFill>
                <a:latin typeface="Aptos"/>
              </a:rPr>
              <a:t>Why a software-management database is needed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3090672"/>
            <a:ext cx="928116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80" b="0">
                <a:solidFill>
                  <a:srgbClr val="475569"/>
                </a:solidFill>
                <a:latin typeface="Aptos"/>
              </a:rPr>
              <a:t>Software organizations handle information across projects, clients, employees, teams, products, requirements, releases and issues.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417320" y="3822191"/>
            <a:ext cx="2907792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645920" y="4041648"/>
            <a:ext cx="64008" cy="329184"/>
          </a:xfrm>
          <a:prstGeom prst="round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847088" y="3986783"/>
            <a:ext cx="224942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2663EB"/>
                </a:solidFill>
                <a:latin typeface="Aptos"/>
              </a:rPr>
              <a:t>WHAT IS MANAGED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73352" y="4434840"/>
            <a:ext cx="2404872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0" b="0">
                <a:solidFill>
                  <a:srgbClr val="475569"/>
                </a:solidFill>
                <a:latin typeface="Aptos"/>
              </a:rPr>
              <a:t>Projects • Clients • Employees • Teams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81144" y="3822191"/>
            <a:ext cx="2907792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4809744" y="4041648"/>
            <a:ext cx="64008" cy="329184"/>
          </a:xfrm>
          <a:prstGeom prst="round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10912" y="3986783"/>
            <a:ext cx="224942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2663EB"/>
                </a:solidFill>
                <a:latin typeface="Aptos"/>
              </a:rPr>
              <a:t>WHAT IS PRODUCED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37176" y="4434840"/>
            <a:ext cx="2404872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0" b="0">
                <a:solidFill>
                  <a:srgbClr val="475569"/>
                </a:solidFill>
                <a:latin typeface="Aptos"/>
              </a:rPr>
              <a:t>Products • Requirements • Releases • Issues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44968" y="3822191"/>
            <a:ext cx="2907792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7973568" y="4041648"/>
            <a:ext cx="64008" cy="329184"/>
          </a:xfrm>
          <a:prstGeom prst="round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174736" y="3986783"/>
            <a:ext cx="224942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2663EB"/>
                </a:solidFill>
                <a:latin typeface="Aptos"/>
              </a:rPr>
              <a:t>WHY CONNECT 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01000" y="4434840"/>
            <a:ext cx="2404872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0" b="0">
                <a:solidFill>
                  <a:srgbClr val="475569"/>
                </a:solidFill>
                <a:latin typeface="Aptos"/>
              </a:rPr>
              <a:t>A relational database gives related records a structured way to connect.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17320" y="5422392"/>
            <a:ext cx="94183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solidFill>
                  <a:srgbClr val="64748B"/>
                </a:solidFill>
                <a:latin typeface="Aptos"/>
              </a:rPr>
              <a:t>Structured records  •  Connected information  •  Easier management</a:t>
            </a:r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03 / PROBLEM STATEMENT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75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2600" b="1">
                <a:solidFill>
                  <a:srgbClr val="18212F"/>
                </a:solidFill>
                <a:latin typeface="Aptos"/>
              </a:rPr>
              <a:t>Problem Statement</a:t>
            </a:r>
            <a:endParaRPr lang="en-US" sz="3000" dirty="0"/>
          </a:p>
        </p:txBody>
      </p:sp>
      <p:sp>
        <p:nvSpPr>
          <p:cNvPr id="19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MANAGEMENT DATABASE SYSTEM  •  REVIEW I</a:t>
            </a:r>
            <a:endParaRPr lang="en-US" sz="900" dirty="0"/>
          </a:p>
        </p:txBody>
      </p:sp>
      <p:sp>
        <p:nvSpPr>
          <p:cNvPr id="22" name="Rounded Rectangle 21"/>
          <p:cNvSpPr/>
          <p:nvPr/>
        </p:nvSpPr>
        <p:spPr>
          <a:xfrm>
            <a:off x="822960" y="1874519"/>
            <a:ext cx="10561320" cy="38862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97280" y="2240280"/>
            <a:ext cx="73152" cy="2651760"/>
          </a:xfrm>
          <a:prstGeom prst="round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417320" y="2176272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663EB"/>
                </a:solidFill>
                <a:latin typeface="Aptos"/>
              </a:rPr>
              <a:t>PROBLEM STATEMENT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2505456"/>
            <a:ext cx="932688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18212F"/>
                </a:solidFill>
                <a:latin typeface="Aptos"/>
              </a:rPr>
              <a:t>The challenge with disconnected records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3090672"/>
            <a:ext cx="928116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80" b="0">
                <a:solidFill>
                  <a:srgbClr val="475569"/>
                </a:solidFill>
                <a:latin typeface="Aptos"/>
              </a:rPr>
              <a:t>Managing records separately can lead to duplication, inconsistency and difficulty tracking project ownership, team allocation, requirements and issues.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417320" y="3822191"/>
            <a:ext cx="2907792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645920" y="4041648"/>
            <a:ext cx="64008" cy="329184"/>
          </a:xfrm>
          <a:prstGeom prst="round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847088" y="3986783"/>
            <a:ext cx="224942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2663EB"/>
                </a:solidFill>
                <a:latin typeface="Aptos"/>
              </a:rPr>
              <a:t>DUPLICATION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73352" y="4434840"/>
            <a:ext cx="2404872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0" b="0">
                <a:solidFill>
                  <a:srgbClr val="475569"/>
                </a:solidFill>
                <a:latin typeface="Aptos"/>
              </a:rPr>
              <a:t>Repeated records make information harder to maintain.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81144" y="3822191"/>
            <a:ext cx="2907792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4809744" y="4041648"/>
            <a:ext cx="64008" cy="329184"/>
          </a:xfrm>
          <a:prstGeom prst="round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10912" y="3986783"/>
            <a:ext cx="224942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2663EB"/>
                </a:solidFill>
                <a:latin typeface="Aptos"/>
              </a:rPr>
              <a:t>INCONSISTENCY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37176" y="4434840"/>
            <a:ext cx="2404872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0" b="0">
                <a:solidFill>
                  <a:srgbClr val="475569"/>
                </a:solidFill>
                <a:latin typeface="Aptos"/>
              </a:rPr>
              <a:t>Separate records can create conflicting or outdated information.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44968" y="3822191"/>
            <a:ext cx="2907792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7973568" y="4041648"/>
            <a:ext cx="64008" cy="329184"/>
          </a:xfrm>
          <a:prstGeom prst="round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174736" y="3986783"/>
            <a:ext cx="224942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2663EB"/>
                </a:solidFill>
                <a:latin typeface="Aptos"/>
              </a:rPr>
              <a:t>TRACKING GAPS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01000" y="4434840"/>
            <a:ext cx="2404872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0" b="0">
                <a:solidFill>
                  <a:srgbClr val="475569"/>
                </a:solidFill>
                <a:latin typeface="Aptos"/>
              </a:rPr>
              <a:t>Ownership, teams, requirements and issues become harder to follow.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17320" y="5422392"/>
            <a:ext cx="94183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solidFill>
                  <a:srgbClr val="64748B"/>
                </a:solidFill>
                <a:latin typeface="Aptos"/>
              </a:rPr>
              <a:t>Duplicate data  •  Inconsistent information  •  Difficult tracking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04 / PROPOSED RESPONSE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75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2600" b="1">
                <a:solidFill>
                  <a:srgbClr val="18212F"/>
                </a:solidFill>
                <a:latin typeface="Aptos"/>
              </a:rPr>
              <a:t>Proposed Response</a:t>
            </a:r>
            <a:endParaRPr lang="en-US" sz="3000" dirty="0"/>
          </a:p>
        </p:txBody>
      </p:sp>
      <p:sp>
        <p:nvSpPr>
          <p:cNvPr id="19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MANAGEMENT DATABASE SYSTEM  •  REVIEW I</a:t>
            </a:r>
            <a:endParaRPr lang="en-US" sz="900" dirty="0"/>
          </a:p>
        </p:txBody>
      </p:sp>
      <p:sp>
        <p:nvSpPr>
          <p:cNvPr id="22" name="Rounded Rectangle 21"/>
          <p:cNvSpPr/>
          <p:nvPr/>
        </p:nvSpPr>
        <p:spPr>
          <a:xfrm>
            <a:off x="822960" y="1874519"/>
            <a:ext cx="10561320" cy="38862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97280" y="2240280"/>
            <a:ext cx="73152" cy="2651760"/>
          </a:xfrm>
          <a:prstGeom prst="round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417320" y="2176272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663EB"/>
                </a:solidFill>
                <a:latin typeface="Aptos"/>
              </a:rPr>
              <a:t>PROPOSED RESPONSE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2505456"/>
            <a:ext cx="932688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18212F"/>
                </a:solidFill>
                <a:latin typeface="Aptos"/>
              </a:rPr>
              <a:t>A connected relational solution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3090672"/>
            <a:ext cx="928116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80" b="0">
                <a:solidFill>
                  <a:srgbClr val="475569"/>
                </a:solidFill>
                <a:latin typeface="Aptos"/>
              </a:rPr>
              <a:t>The project designs a relational database that connects software-management records through well-defined entities, relationships, primary keys and foreign keys.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417320" y="3822191"/>
            <a:ext cx="2907792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645920" y="4041648"/>
            <a:ext cx="64008" cy="329184"/>
          </a:xfrm>
          <a:prstGeom prst="round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847088" y="3986783"/>
            <a:ext cx="224942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2663EB"/>
                </a:solidFill>
                <a:latin typeface="Aptos"/>
              </a:rPr>
              <a:t>RELATIONAL MODEL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73352" y="4434840"/>
            <a:ext cx="2404872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0" b="0">
                <a:solidFill>
                  <a:srgbClr val="475569"/>
                </a:solidFill>
                <a:latin typeface="Aptos"/>
              </a:rPr>
              <a:t>Define entities and suitable attributes for each record.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81144" y="3822191"/>
            <a:ext cx="2907792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4809744" y="4041648"/>
            <a:ext cx="64008" cy="329184"/>
          </a:xfrm>
          <a:prstGeom prst="round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10912" y="3986783"/>
            <a:ext cx="224942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2663EB"/>
                </a:solidFill>
                <a:latin typeface="Aptos"/>
              </a:rPr>
              <a:t>CONNECTED DESIGN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37176" y="4434840"/>
            <a:ext cx="2404872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0" b="0">
                <a:solidFill>
                  <a:srgbClr val="475569"/>
                </a:solidFill>
                <a:latin typeface="Aptos"/>
              </a:rPr>
              <a:t>Establish relationships, cardinality, Primary Keys and Foreign Keys.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44968" y="3822191"/>
            <a:ext cx="2907792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7973568" y="4041648"/>
            <a:ext cx="64008" cy="329184"/>
          </a:xfrm>
          <a:prstGeom prst="round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174736" y="3986783"/>
            <a:ext cx="224942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2663EB"/>
                </a:solidFill>
                <a:latin typeface="Aptos"/>
              </a:rPr>
              <a:t>IMPLEMENTATION BASE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01000" y="4434840"/>
            <a:ext cx="2404872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0" b="0">
                <a:solidFill>
                  <a:srgbClr val="475569"/>
                </a:solidFill>
                <a:latin typeface="Aptos"/>
              </a:rPr>
              <a:t>Create an ER diagram and relational schema for consistent records.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17320" y="5422392"/>
            <a:ext cx="94183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solidFill>
                  <a:srgbClr val="64748B"/>
                </a:solidFill>
                <a:latin typeface="Aptos"/>
              </a:rPr>
              <a:t>Entities + Relationships  •  PK/FK constraints  •  ER diagram + schema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05 / GOALS &amp; BOUNDARIES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75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&amp; System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206240" cy="4343400"/>
          </a:xfrm>
          <a:prstGeom prst="roundRect">
            <a:avLst>
              <a:gd name="adj" fmla="val 1957"/>
            </a:avLst>
          </a:prstGeom>
          <a:solidFill>
            <a:srgbClr val="0B13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3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2468880"/>
            <a:ext cx="310896" cy="310896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7" name="Image 0" descr="/home/claude/asset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859" y="2531059"/>
            <a:ext cx="186538" cy="1865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2414016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4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major software-management entities.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68680" y="3154680"/>
            <a:ext cx="310896" cy="310896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0" name="Image 1" descr="/home/claude/asset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859" y="3216859"/>
            <a:ext cx="186538" cy="1865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3099816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4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suitable attributes.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68680" y="3840480"/>
            <a:ext cx="310896" cy="310896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3" name="Image 2" descr="/home/claude/asset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859" y="3902659"/>
            <a:ext cx="186538" cy="18653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3785616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4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relationships and cardinality.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68680" y="4526280"/>
            <a:ext cx="310896" cy="310896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3" descr="/home/claude/asset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859" y="4588459"/>
            <a:ext cx="186538" cy="18653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25880" y="4471416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4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ER diagram and relational schema.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868680" y="5212080"/>
            <a:ext cx="310896" cy="310896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9" name="Image 4" descr="/home/claude/asset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859" y="5274259"/>
            <a:ext cx="186538" cy="18653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325880" y="5157216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4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Primary Keys and Foreign Keys.</a:t>
            </a:r>
            <a:endParaRPr lang="en-US" sz="1250" dirty="0"/>
          </a:p>
        </p:txBody>
      </p:sp>
      <p:sp>
        <p:nvSpPr>
          <p:cNvPr id="21" name="Text 14"/>
          <p:cNvSpPr/>
          <p:nvPr/>
        </p:nvSpPr>
        <p:spPr>
          <a:xfrm>
            <a:off x="5029200" y="1600200"/>
            <a:ext cx="6611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SCOPE</a:t>
            </a:r>
            <a:endParaRPr lang="en-US" sz="1600" dirty="0"/>
          </a:p>
        </p:txBody>
      </p:sp>
      <p:sp>
        <p:nvSpPr>
          <p:cNvPr id="22" name="Shape 15"/>
          <p:cNvSpPr/>
          <p:nvPr/>
        </p:nvSpPr>
        <p:spPr>
          <a:xfrm>
            <a:off x="5029200" y="2057400"/>
            <a:ext cx="3204972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4E8F5"/>
            </a:solidFill>
            <a:prstDash val="solid"/>
          </a:ln>
          <a:effectLst>
            <a:outerShdw blurRad="1016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6"/>
          <p:cNvSpPr/>
          <p:nvPr/>
        </p:nvSpPr>
        <p:spPr>
          <a:xfrm>
            <a:off x="5193792" y="2276856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4" name="Image 5" descr="/home/claude/assets/proje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5466" y="2408530"/>
            <a:ext cx="285293" cy="285293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852160" y="2185416"/>
            <a:ext cx="22448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5852160" y="2478024"/>
            <a:ext cx="22448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Details, status, dates, client</a:t>
            </a:r>
            <a:endParaRPr lang="en-US" sz="980" dirty="0"/>
          </a:p>
        </p:txBody>
      </p:sp>
      <p:sp>
        <p:nvSpPr>
          <p:cNvPr id="27" name="Shape 19"/>
          <p:cNvSpPr/>
          <p:nvPr/>
        </p:nvSpPr>
        <p:spPr>
          <a:xfrm>
            <a:off x="8435340" y="2057400"/>
            <a:ext cx="3204972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4E8F5"/>
            </a:solidFill>
            <a:prstDash val="solid"/>
          </a:ln>
          <a:effectLst>
            <a:outerShdw blurRad="1016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8" name="Shape 20"/>
          <p:cNvSpPr/>
          <p:nvPr/>
        </p:nvSpPr>
        <p:spPr>
          <a:xfrm>
            <a:off x="8599932" y="2276856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9" name="Image 6" descr="/home/claude/assets/handshak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1606" y="2408530"/>
            <a:ext cx="285293" cy="285293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258300" y="2185416"/>
            <a:ext cx="22448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200" dirty="0"/>
          </a:p>
        </p:txBody>
      </p:sp>
      <p:sp>
        <p:nvSpPr>
          <p:cNvPr id="31" name="Text 22"/>
          <p:cNvSpPr/>
          <p:nvPr/>
        </p:nvSpPr>
        <p:spPr>
          <a:xfrm>
            <a:off x="9258300" y="2478024"/>
            <a:ext cx="22448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and organization</a:t>
            </a:r>
            <a:endParaRPr lang="en-US" sz="980" dirty="0"/>
          </a:p>
        </p:txBody>
      </p:sp>
      <p:sp>
        <p:nvSpPr>
          <p:cNvPr id="32" name="Shape 23"/>
          <p:cNvSpPr/>
          <p:nvPr/>
        </p:nvSpPr>
        <p:spPr>
          <a:xfrm>
            <a:off x="5029200" y="3191256"/>
            <a:ext cx="3204972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4E8F5"/>
            </a:solidFill>
            <a:prstDash val="solid"/>
          </a:ln>
          <a:effectLst>
            <a:outerShdw blurRad="1016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3" name="Shape 24"/>
          <p:cNvSpPr/>
          <p:nvPr/>
        </p:nvSpPr>
        <p:spPr>
          <a:xfrm>
            <a:off x="5193792" y="3410712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4" name="Image 7" descr="/home/claude/assets/userti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25466" y="3542386"/>
            <a:ext cx="285293" cy="285293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852160" y="3319272"/>
            <a:ext cx="22448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200" dirty="0"/>
          </a:p>
        </p:txBody>
      </p:sp>
      <p:sp>
        <p:nvSpPr>
          <p:cNvPr id="36" name="Text 26"/>
          <p:cNvSpPr/>
          <p:nvPr/>
        </p:nvSpPr>
        <p:spPr>
          <a:xfrm>
            <a:off x="5852160" y="3611880"/>
            <a:ext cx="22448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Developers, testers, managers</a:t>
            </a:r>
            <a:endParaRPr lang="en-US" sz="980" dirty="0"/>
          </a:p>
        </p:txBody>
      </p:sp>
      <p:sp>
        <p:nvSpPr>
          <p:cNvPr id="37" name="Shape 27"/>
          <p:cNvSpPr/>
          <p:nvPr/>
        </p:nvSpPr>
        <p:spPr>
          <a:xfrm>
            <a:off x="8435340" y="3191256"/>
            <a:ext cx="3204972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4E8F5"/>
            </a:solidFill>
            <a:prstDash val="solid"/>
          </a:ln>
          <a:effectLst>
            <a:outerShdw blurRad="1016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8" name="Shape 28"/>
          <p:cNvSpPr/>
          <p:nvPr/>
        </p:nvSpPr>
        <p:spPr>
          <a:xfrm>
            <a:off x="8599932" y="3410712"/>
            <a:ext cx="548640" cy="54864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9" name="Image 8" descr="/home/claude/assets/user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31606" y="3542386"/>
            <a:ext cx="285293" cy="285293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9258300" y="3319272"/>
            <a:ext cx="22448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00" dirty="0"/>
          </a:p>
        </p:txBody>
      </p:sp>
      <p:sp>
        <p:nvSpPr>
          <p:cNvPr id="41" name="Text 30"/>
          <p:cNvSpPr/>
          <p:nvPr/>
        </p:nvSpPr>
        <p:spPr>
          <a:xfrm>
            <a:off x="9258300" y="3611880"/>
            <a:ext cx="22448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and allocation</a:t>
            </a:r>
            <a:endParaRPr lang="en-US" sz="980" dirty="0"/>
          </a:p>
        </p:txBody>
      </p:sp>
      <p:sp>
        <p:nvSpPr>
          <p:cNvPr id="42" name="Shape 31"/>
          <p:cNvSpPr/>
          <p:nvPr/>
        </p:nvSpPr>
        <p:spPr>
          <a:xfrm>
            <a:off x="5029200" y="4325112"/>
            <a:ext cx="3204972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4E8F5"/>
            </a:solidFill>
            <a:prstDash val="solid"/>
          </a:ln>
          <a:effectLst>
            <a:outerShdw blurRad="1016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3" name="Shape 32"/>
          <p:cNvSpPr/>
          <p:nvPr/>
        </p:nvSpPr>
        <p:spPr>
          <a:xfrm>
            <a:off x="5193792" y="4544568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4" name="Image 9" descr="/home/claude/assets/laye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25466" y="4676242"/>
            <a:ext cx="285293" cy="285293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5852160" y="4453128"/>
            <a:ext cx="22448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00" dirty="0"/>
          </a:p>
        </p:txBody>
      </p:sp>
      <p:sp>
        <p:nvSpPr>
          <p:cNvPr id="46" name="Text 34"/>
          <p:cNvSpPr/>
          <p:nvPr/>
        </p:nvSpPr>
        <p:spPr>
          <a:xfrm>
            <a:off x="5852160" y="4745736"/>
            <a:ext cx="22448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and versions</a:t>
            </a:r>
            <a:endParaRPr lang="en-US" sz="980" dirty="0"/>
          </a:p>
        </p:txBody>
      </p:sp>
      <p:sp>
        <p:nvSpPr>
          <p:cNvPr id="47" name="Shape 35"/>
          <p:cNvSpPr/>
          <p:nvPr/>
        </p:nvSpPr>
        <p:spPr>
          <a:xfrm>
            <a:off x="8435340" y="4325112"/>
            <a:ext cx="3204972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4E8F5"/>
            </a:solidFill>
            <a:prstDash val="solid"/>
          </a:ln>
          <a:effectLst>
            <a:outerShdw blurRad="1016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8" name="Shape 36"/>
          <p:cNvSpPr/>
          <p:nvPr/>
        </p:nvSpPr>
        <p:spPr>
          <a:xfrm>
            <a:off x="8599932" y="4544568"/>
            <a:ext cx="548640" cy="548640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9" name="Image 10" descr="/home/claude/assets/clipboar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31606" y="4676242"/>
            <a:ext cx="285293" cy="285293"/>
          </a:xfrm>
          <a:prstGeom prst="rect">
            <a:avLst/>
          </a:prstGeom>
        </p:spPr>
      </p:pic>
      <p:sp>
        <p:nvSpPr>
          <p:cNvPr id="50" name="Text 37"/>
          <p:cNvSpPr/>
          <p:nvPr/>
        </p:nvSpPr>
        <p:spPr>
          <a:xfrm>
            <a:off x="9258300" y="4453128"/>
            <a:ext cx="22448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200" dirty="0"/>
          </a:p>
        </p:txBody>
      </p:sp>
      <p:sp>
        <p:nvSpPr>
          <p:cNvPr id="51" name="Text 38"/>
          <p:cNvSpPr/>
          <p:nvPr/>
        </p:nvSpPr>
        <p:spPr>
          <a:xfrm>
            <a:off x="9258300" y="4745736"/>
            <a:ext cx="22448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and priorities</a:t>
            </a:r>
            <a:endParaRPr lang="en-US" sz="980" dirty="0"/>
          </a:p>
        </p:txBody>
      </p:sp>
      <p:sp>
        <p:nvSpPr>
          <p:cNvPr id="52" name="Shape 39"/>
          <p:cNvSpPr/>
          <p:nvPr/>
        </p:nvSpPr>
        <p:spPr>
          <a:xfrm>
            <a:off x="5029200" y="5458968"/>
            <a:ext cx="3204972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4E8F5"/>
            </a:solidFill>
            <a:prstDash val="solid"/>
          </a:ln>
          <a:effectLst>
            <a:outerShdw blurRad="101600" dist="25400" dir="5400000" algn="bl" rotWithShape="0">
              <a:srgbClr val="1B2A4A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3" name="Shape 40"/>
          <p:cNvSpPr/>
          <p:nvPr/>
        </p:nvSpPr>
        <p:spPr>
          <a:xfrm>
            <a:off x="5193792" y="5678424"/>
            <a:ext cx="548640" cy="548640"/>
          </a:xfrm>
          <a:prstGeom prst="ellipse">
            <a:avLst/>
          </a:prstGeom>
          <a:solidFill>
            <a:srgbClr val="F43F5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54" name="Image 11" descr="/home/claude/assets/bu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25466" y="5810098"/>
            <a:ext cx="285293" cy="285293"/>
          </a:xfrm>
          <a:prstGeom prst="rect">
            <a:avLst/>
          </a:prstGeom>
        </p:spPr>
      </p:pic>
      <p:sp>
        <p:nvSpPr>
          <p:cNvPr id="55" name="Text 41"/>
          <p:cNvSpPr/>
          <p:nvPr/>
        </p:nvSpPr>
        <p:spPr>
          <a:xfrm>
            <a:off x="5852160" y="5586984"/>
            <a:ext cx="22448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sz="1200" dirty="0"/>
          </a:p>
        </p:txBody>
      </p:sp>
      <p:sp>
        <p:nvSpPr>
          <p:cNvPr id="56" name="Text 42"/>
          <p:cNvSpPr/>
          <p:nvPr/>
        </p:nvSpPr>
        <p:spPr>
          <a:xfrm>
            <a:off x="5852160" y="5879592"/>
            <a:ext cx="22448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Defects, severity, assignment, status</a:t>
            </a:r>
            <a:endParaRPr lang="en-US" sz="980" dirty="0"/>
          </a:p>
        </p:txBody>
      </p:sp>
      <p:sp>
        <p:nvSpPr>
          <p:cNvPr id="57" name="Text 4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MANAGEMENT DATABASE SYSTEM  •  REVIEW I</a:t>
            </a:r>
            <a:endParaRPr lang="en-US" sz="900" dirty="0"/>
          </a:p>
        </p:txBody>
      </p:sp>
      <p:sp>
        <p:nvSpPr>
          <p:cNvPr id="59" name="Text 45"/>
          <p:cNvSpPr/>
          <p:nvPr/>
        </p:nvSpPr>
        <p:spPr>
          <a:xfrm>
            <a:off x="11368735" y="62910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06 / DATA MODEL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75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Entities &amp; Attributes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190224" cy="4700016"/>
        </p:xfrm>
        <a:graphic>
          <a:graphicData uri="http://schemas.openxmlformats.org/drawingml/2006/table">
            <a:tbl>
              <a:tblPr/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6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65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ATTRIBUTES / KEYS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Project_ID (PK), Project_Name, Start_Date, End_Date, Status, Client_ID (FK)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Client_ID (PK), Client_Name, Email, Phone, Organization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Employee_ID (PK), Employee_Name, Email, Designation, Department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Team_ID (PK), Team_Name, Project_ID (FK), Team_Lead_ID (FK)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SOFTWARE_PRODUCT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Product_ID (PK), Product_Name, Version, Product_Type, Project_ID (FK)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Requirement_ID (PK), Project_ID (FK), Requirement_Title, Priority, 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3F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Issue_ID (PK), Project_ID (FK), Reported_By (FK), Assigned_To (FK), Severity, 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MANAGEMENT DATABASE SYSTEM  •  REVIEW I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07 / DATA RELATIONSHIPS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75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Relationships &amp; Cardinality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4700016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9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CARDINALITY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→ Project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client can have many software projects.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→ Team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project can have multiple teams.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 ↔ Team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 : 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employee can belong to multiple teams.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→ Software Product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project can manage multiple products or versions.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→ Requirement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project can contain many requirements.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→ Issue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project can have many reported issues.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 → Issue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employee can report or be assigned multiple issues.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MANAGEMENT DATABASE SYSTEM  •  REVIEW I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68735" y="62910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08 / RELATIONAL DESIGN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75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Schema &amp; Key Constraints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356616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45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RELATIONAL SCHEMA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b="1" dirty="0">
                          <a:solidFill>
                            <a:srgbClr val="0B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111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Project(Project_ID, Project_Name, Start_Date, End_Date, Status, Client_ID)</a:t>
                      </a:r>
                      <a:endParaRPr lang="en-US" sz="8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B66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PK: Project_ID; FK: Client_ID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b="1" dirty="0">
                          <a:solidFill>
                            <a:srgbClr val="0B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111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Client(Client_ID, Client_Name, Email, Phone, Organization)</a:t>
                      </a:r>
                      <a:endParaRPr lang="en-US" sz="8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B66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PK: Client_ID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b="1" dirty="0">
                          <a:solidFill>
                            <a:srgbClr val="0B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111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Employee(Employee_ID, Employee_Name, Email, Designation, Department)</a:t>
                      </a:r>
                      <a:endParaRPr lang="en-US" sz="8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B66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PK: Employee_ID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b="1" dirty="0">
                          <a:solidFill>
                            <a:srgbClr val="0B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111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Team(Team_ID, Team_Name, Project_ID, Team_Lead_ID)</a:t>
                      </a:r>
                      <a:endParaRPr lang="en-US" sz="8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B66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PK: Team_ID; FK: Project_ID, Team_Lead_ID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b="1" dirty="0">
                          <a:solidFill>
                            <a:srgbClr val="0B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SOFTWARE_PRODUCT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111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Software_Product(Product_ID, Product_Name, Version, Product_Type, Project_ID)</a:t>
                      </a:r>
                      <a:endParaRPr lang="en-US" sz="8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B66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PK: Product_ID; FK: Project_ID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b="1" dirty="0">
                          <a:solidFill>
                            <a:srgbClr val="0B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111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Requirement(Requirement_ID, Project_ID, Requirement_Title, Priority, Status)</a:t>
                      </a:r>
                      <a:endParaRPr lang="en-US" sz="8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B66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PK: Requirement_ID; FK: Project_ID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0" b="1" dirty="0">
                          <a:solidFill>
                            <a:srgbClr val="0B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dirty="0">
                          <a:solidFill>
                            <a:srgbClr val="111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Issue(Issue_ID, Project_ID, Reported_By, Assigned_To, Severity, Status)</a:t>
                      </a:r>
                      <a:endParaRPr lang="en-US" sz="8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B66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PK: Issue_ID; FK: Project_ID, Reported_By, Assigned_To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49240"/>
            <a:ext cx="3529584" cy="914400"/>
          </a:xfrm>
          <a:prstGeom prst="roundRect">
            <a:avLst>
              <a:gd name="adj" fmla="val 8000"/>
            </a:avLst>
          </a:prstGeom>
          <a:solidFill>
            <a:srgbClr val="0B13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731520" y="553212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" name="Image 0" descr="/home/claude/assets/k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194" y="5663794"/>
            <a:ext cx="285293" cy="28529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5458968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1417320" y="5733288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D7D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Uniquely identifies each record.</a:t>
            </a:r>
            <a:endParaRPr lang="en-US" sz="980" dirty="0"/>
          </a:p>
        </p:txBody>
      </p:sp>
      <p:sp>
        <p:nvSpPr>
          <p:cNvPr id="10" name="Shape 6"/>
          <p:cNvSpPr/>
          <p:nvPr/>
        </p:nvSpPr>
        <p:spPr>
          <a:xfrm>
            <a:off x="4334256" y="5349240"/>
            <a:ext cx="3529584" cy="914400"/>
          </a:xfrm>
          <a:prstGeom prst="roundRect">
            <a:avLst>
              <a:gd name="adj" fmla="val 8000"/>
            </a:avLst>
          </a:prstGeom>
          <a:solidFill>
            <a:srgbClr val="0B13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4517136" y="553212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1" descr="/home/claude/assets/l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8810" y="5663794"/>
            <a:ext cx="285293" cy="28529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202936" y="5458968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5202936" y="5733288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D7D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related records.</a:t>
            </a:r>
            <a:endParaRPr lang="en-US" sz="980" dirty="0"/>
          </a:p>
        </p:txBody>
      </p:sp>
      <p:sp>
        <p:nvSpPr>
          <p:cNvPr id="15" name="Shape 10"/>
          <p:cNvSpPr/>
          <p:nvPr/>
        </p:nvSpPr>
        <p:spPr>
          <a:xfrm>
            <a:off x="8119872" y="5349240"/>
            <a:ext cx="3529584" cy="914400"/>
          </a:xfrm>
          <a:prstGeom prst="roundRect">
            <a:avLst>
              <a:gd name="adj" fmla="val 8000"/>
            </a:avLst>
          </a:prstGeom>
          <a:solidFill>
            <a:srgbClr val="0B133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hape 11"/>
          <p:cNvSpPr/>
          <p:nvPr/>
        </p:nvSpPr>
        <p:spPr>
          <a:xfrm>
            <a:off x="8302752" y="553212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7" name="Image 2" descr="/home/claude/assets/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4426" y="5663794"/>
            <a:ext cx="285293" cy="28529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988552" y="5458968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8988552" y="5733288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D7D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consistent relationships.</a:t>
            </a:r>
            <a:endParaRPr lang="en-US" sz="980" dirty="0"/>
          </a:p>
        </p:txBody>
      </p:sp>
      <p:sp>
        <p:nvSpPr>
          <p:cNvPr id="20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MANAGEMENT DATABASE SYSTEM  •  REVIEW I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368735" y="62910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09 / ARCHITECTURE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75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Entity–Relationship Diagram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6424" y="1371600"/>
            <a:ext cx="9966960" cy="5029200"/>
          </a:xfrm>
          <a:prstGeom prst="roundRect">
            <a:avLst>
              <a:gd name="adj" fmla="val 1636"/>
            </a:avLst>
          </a:prstGeom>
          <a:solidFill>
            <a:srgbClr val="FFFFFF"/>
          </a:solidFill>
          <a:ln w="12700">
            <a:solidFill>
              <a:srgbClr val="E4E8F5"/>
            </a:solidFill>
            <a:prstDash val="solid"/>
          </a:ln>
          <a:effectLst>
            <a:outerShdw blurRad="152400" dist="38100" dir="5400000" algn="bl" rotWithShape="0">
              <a:srgbClr val="1B2A4A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MANAGEMENT DATABASE SYSTEM  •  REVIEW I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68735" y="62910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b="1" dirty="0"/>
              <a:t> </a:t>
            </a:r>
            <a:endParaRPr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9DB070-8614-B2B1-9511-35F14CACB0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616" y="1371600"/>
            <a:ext cx="9966960" cy="5029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10 / COLLABORATION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75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Responsibilities, GitHub &amp; Next Review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4250618"/>
              </p:ext>
            </p:extLst>
          </p:nvPr>
        </p:nvGraphicFramePr>
        <p:xfrm>
          <a:off x="548640" y="1243584"/>
          <a:ext cx="11091672" cy="2715662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5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46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MEMBER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9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 ARAVINDA REDDY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title, introduction, problem statement and objectives, Scope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39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50" b="1" dirty="0">
                        <a:solidFill>
                          <a:srgbClr val="0B1330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50" b="1" dirty="0">
                          <a:solidFill>
                            <a:srgbClr val="0B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M. GANGADHAR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entities, attributes, Primary Keys and Foreign Keys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9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50" b="1" dirty="0">
                          <a:solidFill>
                            <a:srgbClr val="0B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ESWAR VARDHAN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relational schema and ER diagram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9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50" b="1" dirty="0">
                          <a:solidFill>
                            <a:srgbClr val="0B1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K.V.SAI GANESH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repository and PPT documentation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9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latin typeface="Calibri" charset="0"/>
                          <a:ea typeface="Calibri" charset="0"/>
                          <a:cs typeface="Calibri" charset="0"/>
                        </a:rPr>
                        <a:t>V.SATYA SAI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1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Relationships, cardinality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30505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160520"/>
            <a:ext cx="3529584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4E8F5"/>
            </a:solidFill>
            <a:prstDash val="solid"/>
          </a:ln>
          <a:effectLst>
            <a:outerShdw blurRad="152400" dist="38100" dir="5400000" algn="bl" rotWithShape="0">
              <a:srgbClr val="1B2A4A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868680" y="4453128"/>
            <a:ext cx="658368" cy="65836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7" name="Image 0" descr="/home/claude/assets/githu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4617720"/>
            <a:ext cx="329184" cy="3291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8680" y="5257800"/>
            <a:ext cx="28895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</a:t>
            </a:r>
            <a:endParaRPr lang="en-US" sz="1450" dirty="0"/>
          </a:p>
        </p:txBody>
      </p:sp>
      <p:sp>
        <p:nvSpPr>
          <p:cNvPr id="4" name="Text 5"/>
          <p:cNvSpPr/>
          <p:nvPr/>
        </p:nvSpPr>
        <p:spPr>
          <a:xfrm>
            <a:off x="868680" y="5623560"/>
            <a:ext cx="288950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repository name and link here.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334256" y="4160520"/>
            <a:ext cx="3529584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4E8F5"/>
            </a:solidFill>
            <a:prstDash val="solid"/>
          </a:ln>
          <a:effectLst>
            <a:outerShdw blurRad="152400" dist="38100" dir="5400000" algn="bl" rotWithShape="0">
              <a:srgbClr val="1B2A4A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4654296" y="4453128"/>
            <a:ext cx="658368" cy="65836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1" descr="/home/claude/assets/rock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888" y="4617720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654296" y="5257800"/>
            <a:ext cx="28895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REVIEW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4654296" y="5623560"/>
            <a:ext cx="288950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tables, sample records and SQL queries.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8119872" y="4160520"/>
            <a:ext cx="3529584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4E8F5"/>
            </a:solidFill>
            <a:prstDash val="solid"/>
          </a:ln>
          <a:effectLst>
            <a:outerShdw blurRad="152400" dist="38100" dir="5400000" algn="bl" rotWithShape="0">
              <a:srgbClr val="1B2A4A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1"/>
          <p:cNvSpPr/>
          <p:nvPr/>
        </p:nvSpPr>
        <p:spPr>
          <a:xfrm>
            <a:off x="8439912" y="4453128"/>
            <a:ext cx="658368" cy="658368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7" name="Image 2" descr="/home/claude/assets/cog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4504" y="4617720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439912" y="5257800"/>
            <a:ext cx="28895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8439912" y="5623560"/>
            <a:ext cx="288950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relationships, constraints and test data.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MANAGEMENT DATABASE SYSTEM  •  REVIEW I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368735" y="62910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11 / NEXT PHASE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875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 &amp; Future Enhancements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4709160"/>
          </a:xfrm>
          <a:prstGeom prst="roundRect">
            <a:avLst>
              <a:gd name="adj" fmla="val 1748"/>
            </a:avLst>
          </a:prstGeom>
          <a:solidFill>
            <a:srgbClr val="FFFFFF"/>
          </a:solidFill>
          <a:ln w="12700">
            <a:solidFill>
              <a:srgbClr val="E4E8F5"/>
            </a:solidFill>
            <a:prstDash val="solid"/>
          </a:ln>
          <a:effectLst>
            <a:outerShdw blurRad="127000" dist="381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68680" y="178308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6" name="Image 0" descr="/home/claude/asset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19431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84708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914400" y="2743200"/>
            <a:ext cx="256032" cy="25603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9" name="Image 1" descr="/home/claude/asset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06" y="2794406"/>
            <a:ext cx="153619" cy="15361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2679192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conceptual model of software-management data.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914400" y="3401568"/>
            <a:ext cx="256032" cy="25603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/home/claude/asset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06" y="3452774"/>
            <a:ext cx="153619" cy="15361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25880" y="3337560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schema with defined PKs and FKs.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914400" y="4059936"/>
            <a:ext cx="256032" cy="25603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5" name="Image 3" descr="/home/claude/asset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06" y="4111142"/>
            <a:ext cx="153619" cy="15361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25880" y="3995928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organization of connected project records.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914400" y="4718304"/>
            <a:ext cx="256032" cy="25603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8" name="Image 4" descr="/home/claude/asset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06" y="4769510"/>
            <a:ext cx="153619" cy="153619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325880" y="4654296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SQL implementation and testing.</a:t>
            </a:r>
            <a:endParaRPr lang="en-US" sz="1200" dirty="0"/>
          </a:p>
        </p:txBody>
      </p:sp>
      <p:pic>
        <p:nvPicPr>
          <p:cNvPr id="20" name="Image 5" descr="/home/claude/assets/bg_conclusion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72200" y="1554480"/>
            <a:ext cx="5468112" cy="4709160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6172200" y="1554480"/>
            <a:ext cx="5468112" cy="4709160"/>
          </a:xfrm>
          <a:prstGeom prst="roundRect">
            <a:avLst>
              <a:gd name="adj" fmla="val 1748"/>
            </a:avLst>
          </a:prstGeom>
          <a:ln w="12700">
            <a:solidFill>
              <a:srgbClr val="2A39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14"/>
          <p:cNvSpPr/>
          <p:nvPr/>
        </p:nvSpPr>
        <p:spPr>
          <a:xfrm>
            <a:off x="6492240" y="1783080"/>
            <a:ext cx="640080" cy="640080"/>
          </a:xfrm>
          <a:prstGeom prst="ellipse">
            <a:avLst/>
          </a:prstGeom>
          <a:solidFill>
            <a:srgbClr val="1B245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3" name="Image 6" descr="/home/claude/assets/rock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2260" y="1943100"/>
            <a:ext cx="320040" cy="320040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6492240" y="1783080"/>
            <a:ext cx="640080" cy="640080"/>
          </a:xfrm>
          <a:prstGeom prst="ellipse">
            <a:avLst/>
          </a:prstGeom>
          <a:ln w="15875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16"/>
          <p:cNvSpPr/>
          <p:nvPr/>
        </p:nvSpPr>
        <p:spPr>
          <a:xfrm>
            <a:off x="7269480" y="1847088"/>
            <a:ext cx="4096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1700" dirty="0"/>
          </a:p>
        </p:txBody>
      </p:sp>
      <p:sp>
        <p:nvSpPr>
          <p:cNvPr id="26" name="Shape 17"/>
          <p:cNvSpPr/>
          <p:nvPr/>
        </p:nvSpPr>
        <p:spPr>
          <a:xfrm>
            <a:off x="6537960" y="2743200"/>
            <a:ext cx="256032" cy="256032"/>
          </a:xfrm>
          <a:prstGeom prst="ellipse">
            <a:avLst/>
          </a:prstGeom>
          <a:solidFill>
            <a:srgbClr val="1B245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7" name="Image 7" descr="/home/claude/asset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9166" y="2794406"/>
            <a:ext cx="153619" cy="153619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6949440" y="2679192"/>
            <a:ext cx="43708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D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using a relational DBMS.</a:t>
            </a:r>
            <a:endParaRPr lang="en-US" sz="1200" dirty="0"/>
          </a:p>
        </p:txBody>
      </p:sp>
      <p:sp>
        <p:nvSpPr>
          <p:cNvPr id="29" name="Shape 19"/>
          <p:cNvSpPr/>
          <p:nvPr/>
        </p:nvSpPr>
        <p:spPr>
          <a:xfrm>
            <a:off x="6537960" y="3401568"/>
            <a:ext cx="256032" cy="256032"/>
          </a:xfrm>
          <a:prstGeom prst="ellipse">
            <a:avLst/>
          </a:prstGeom>
          <a:solidFill>
            <a:srgbClr val="1B245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0" name="Image 8" descr="/home/claude/asset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9166" y="3452774"/>
            <a:ext cx="153619" cy="153619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6949440" y="3337560"/>
            <a:ext cx="43708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D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authentication and role-based access.</a:t>
            </a:r>
            <a:endParaRPr lang="en-US" sz="1200" dirty="0"/>
          </a:p>
        </p:txBody>
      </p:sp>
      <p:sp>
        <p:nvSpPr>
          <p:cNvPr id="32" name="Shape 21"/>
          <p:cNvSpPr/>
          <p:nvPr/>
        </p:nvSpPr>
        <p:spPr>
          <a:xfrm>
            <a:off x="6537960" y="4059936"/>
            <a:ext cx="256032" cy="256032"/>
          </a:xfrm>
          <a:prstGeom prst="ellipse">
            <a:avLst/>
          </a:prstGeom>
          <a:solidFill>
            <a:srgbClr val="1B245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3" name="Image 9" descr="/home/claude/asset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9166" y="4111142"/>
            <a:ext cx="153619" cy="153619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6949440" y="3995928"/>
            <a:ext cx="43708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D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analytics and reporting dashboards.</a:t>
            </a:r>
            <a:endParaRPr lang="en-US" sz="1200" dirty="0"/>
          </a:p>
        </p:txBody>
      </p:sp>
      <p:sp>
        <p:nvSpPr>
          <p:cNvPr id="35" name="Shape 23"/>
          <p:cNvSpPr/>
          <p:nvPr/>
        </p:nvSpPr>
        <p:spPr>
          <a:xfrm>
            <a:off x="6537960" y="4718304"/>
            <a:ext cx="256032" cy="256032"/>
          </a:xfrm>
          <a:prstGeom prst="ellipse">
            <a:avLst/>
          </a:prstGeom>
          <a:solidFill>
            <a:srgbClr val="1B245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6" name="Image 10" descr="/home/claude/asset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9166" y="4769510"/>
            <a:ext cx="153619" cy="153619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6949440" y="4654296"/>
            <a:ext cx="43708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D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with releases, testing, deployment and audit modules.</a:t>
            </a:r>
            <a:endParaRPr lang="en-US" sz="1200" dirty="0"/>
          </a:p>
        </p:txBody>
      </p:sp>
      <p:sp>
        <p:nvSpPr>
          <p:cNvPr id="38" name="Shape 25"/>
          <p:cNvSpPr/>
          <p:nvPr/>
        </p:nvSpPr>
        <p:spPr>
          <a:xfrm>
            <a:off x="6537960" y="5376672"/>
            <a:ext cx="256032" cy="256032"/>
          </a:xfrm>
          <a:prstGeom prst="ellipse">
            <a:avLst/>
          </a:prstGeom>
          <a:solidFill>
            <a:srgbClr val="1B245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9" name="Image 11" descr="/home/claude/asset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9166" y="5427878"/>
            <a:ext cx="153619" cy="153619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6949440" y="5312664"/>
            <a:ext cx="43708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D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backup, recovery and data-governance procedures.</a:t>
            </a:r>
            <a:endParaRPr lang="en-US" sz="1200" dirty="0"/>
          </a:p>
        </p:txBody>
      </p:sp>
      <p:sp>
        <p:nvSpPr>
          <p:cNvPr id="41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MANAGEMENT DATABASE SYSTEM  •  REVIEW I</a:t>
            </a:r>
            <a:endParaRPr lang="en-US" sz="900" dirty="0"/>
          </a:p>
        </p:txBody>
      </p:sp>
      <p:sp>
        <p:nvSpPr>
          <p:cNvPr id="43" name="Text 29"/>
          <p:cNvSpPr/>
          <p:nvPr/>
        </p:nvSpPr>
        <p:spPr>
          <a:xfrm>
            <a:off x="11368735" y="62910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200400"/>
            <a:ext cx="4754880" cy="4754880"/>
          </a:xfrm>
          <a:prstGeom prst="ellipse">
            <a:avLst/>
          </a:prstGeom>
          <a:ln w="15875">
            <a:solidFill>
              <a:srgbClr val="2A39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12 / OUTCOME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9875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600200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6" name="Image 0" descr="/home/claude/asset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808" y="1661648"/>
            <a:ext cx="169713" cy="16971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563624"/>
            <a:ext cx="6492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4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Software Management Database System identifies seven major entities required to represent core software-project activities.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94360" y="2313432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9" name="Image 1" descr="/home/claude/asset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808" y="2374880"/>
            <a:ext cx="169713" cy="16971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2276856"/>
            <a:ext cx="6492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4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attributes, Primary Keys and Foreign Keys have been identified.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94360" y="3026664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/home/claude/asset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808" y="3088112"/>
            <a:ext cx="169713" cy="16971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51560" y="2990088"/>
            <a:ext cx="6492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4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relationships and cardinalities between the entities have been defined.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594360" y="3739896"/>
            <a:ext cx="292608" cy="29260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5" name="Image 3" descr="/home/claude/asset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808" y="3801344"/>
            <a:ext cx="169713" cy="16971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51560" y="3703320"/>
            <a:ext cx="6492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4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 diagram and relational database schema provide the foundation for implementation.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594360" y="4453128"/>
            <a:ext cx="292608" cy="292608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8" name="Image 4" descr="/home/claude/asset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808" y="4514576"/>
            <a:ext cx="169713" cy="169713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51560" y="4416552"/>
            <a:ext cx="6492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4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Review–II can proceed to SQL creation, sample data, queries and testing.</a:t>
            </a:r>
            <a:endParaRPr lang="en-US" sz="1250" dirty="0"/>
          </a:p>
        </p:txBody>
      </p:sp>
      <p:sp>
        <p:nvSpPr>
          <p:cNvPr id="20" name="Shape 13"/>
          <p:cNvSpPr/>
          <p:nvPr/>
        </p:nvSpPr>
        <p:spPr>
          <a:xfrm>
            <a:off x="7955280" y="1600200"/>
            <a:ext cx="3611880" cy="3749040"/>
          </a:xfrm>
          <a:prstGeom prst="roundRect">
            <a:avLst>
              <a:gd name="adj" fmla="val 2532"/>
            </a:avLst>
          </a:prstGeom>
          <a:solidFill>
            <a:srgbClr val="121B44"/>
          </a:solidFill>
          <a:ln w="12700">
            <a:solidFill>
              <a:srgbClr val="2A39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4"/>
          <p:cNvSpPr/>
          <p:nvPr/>
        </p:nvSpPr>
        <p:spPr>
          <a:xfrm>
            <a:off x="9258300" y="1965960"/>
            <a:ext cx="1005840" cy="1005840"/>
          </a:xfrm>
          <a:prstGeom prst="ellipse">
            <a:avLst/>
          </a:prstGeom>
          <a:solidFill>
            <a:srgbClr val="1B245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2" name="Image 5" descr="/home/claude/asset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0" y="2217420"/>
            <a:ext cx="502920" cy="50292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9258300" y="1965960"/>
            <a:ext cx="1005840" cy="1005840"/>
          </a:xfrm>
          <a:prstGeom prst="ellipse">
            <a:avLst/>
          </a:prstGeom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6"/>
          <p:cNvSpPr/>
          <p:nvPr/>
        </p:nvSpPr>
        <p:spPr>
          <a:xfrm>
            <a:off x="8046720" y="3246120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</a:t>
            </a:r>
            <a:endParaRPr lang="en-US" sz="2100" dirty="0"/>
          </a:p>
          <a:p>
            <a:pPr marL="0" indent="0" algn="ctr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</a:t>
            </a:r>
            <a:endParaRPr lang="en-US" sz="2100" dirty="0"/>
          </a:p>
        </p:txBody>
      </p:sp>
      <p:sp>
        <p:nvSpPr>
          <p:cNvPr id="25" name="Text 17"/>
          <p:cNvSpPr/>
          <p:nvPr/>
        </p:nvSpPr>
        <p:spPr>
          <a:xfrm>
            <a:off x="8046720" y="434340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attention.</a:t>
            </a:r>
            <a:endParaRPr lang="en-US" sz="1150" dirty="0"/>
          </a:p>
        </p:txBody>
      </p:sp>
      <p:sp>
        <p:nvSpPr>
          <p:cNvPr id="26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MANAGEMENT DATABASE SYSTEM  •  REVIEW I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90B2F6-DBB6-8E99-CCFC-EB3E5BFBA17F}"/>
              </a:ext>
            </a:extLst>
          </p:cNvPr>
          <p:cNvSpPr txBox="1"/>
          <p:nvPr/>
        </p:nvSpPr>
        <p:spPr>
          <a:xfrm>
            <a:off x="4101680" y="2805723"/>
            <a:ext cx="45812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b="1" dirty="0">
                <a:solidFill>
                  <a:srgbClr val="C00000"/>
                </a:solidFill>
                <a:latin typeface="Algerian" panose="04020705040A020607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828826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1289</Words>
  <Application>Microsoft Office PowerPoint</Application>
  <PresentationFormat>Widescreen</PresentationFormat>
  <Paragraphs>222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Algerian</vt:lpstr>
      <vt:lpstr>Aptos</vt:lpstr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sai ganesh</cp:lastModifiedBy>
  <cp:revision>6</cp:revision>
  <dcterms:created xsi:type="dcterms:W3CDTF">2026-08-09T17:34:46Z</dcterms:created>
  <dcterms:modified xsi:type="dcterms:W3CDTF">2026-10-07T05:49:47Z</dcterms:modified>
</cp:coreProperties>
</file>