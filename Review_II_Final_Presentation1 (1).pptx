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1E3DF2-CBD1-4DCF-80F6-5106A365EDC5}" type="doc">
      <dgm:prSet loTypeId="urn:microsoft.com/office/officeart/2005/8/layout/vList2" loCatId="list" qsTypeId="urn:microsoft.com/office/officeart/2005/8/quickstyle/simple3#1" qsCatId="simple" csTypeId="urn:microsoft.com/office/officeart/2005/8/colors/accent1_2#1" csCatId="accent1"/>
      <dgm:spPr/>
      <dgm:t>
        <a:bodyPr/>
        <a:lstStyle/>
        <a:p>
          <a:endParaRPr lang="en-IN"/>
        </a:p>
      </dgm:t>
    </dgm:pt>
    <dgm:pt modelId="{4434F1E7-5DDF-445A-A0D5-1FDB18CAB86E}">
      <dgm:prSet/>
      <dgm:spPr/>
      <dgm:t>
        <a:bodyPr/>
        <a:lstStyle/>
        <a:p>
          <a:pPr algn="ctr"/>
          <a:r>
            <a:rPr lang="en-IN" dirty="0"/>
            <a:t>Customer Management </a:t>
          </a:r>
        </a:p>
      </dgm:t>
    </dgm:pt>
    <dgm:pt modelId="{98AAEBC1-B95A-4236-8D88-CD6311480768}" type="parTrans" cxnId="{1CEE3A4D-85FC-4026-A582-7CA26141E2FF}">
      <dgm:prSet/>
      <dgm:spPr/>
      <dgm:t>
        <a:bodyPr/>
        <a:lstStyle/>
        <a:p>
          <a:endParaRPr lang="en-IN"/>
        </a:p>
      </dgm:t>
    </dgm:pt>
    <dgm:pt modelId="{824752D7-CADE-403D-A20A-5C03235C1057}" type="sibTrans" cxnId="{1CEE3A4D-85FC-4026-A582-7CA26141E2FF}">
      <dgm:prSet/>
      <dgm:spPr/>
      <dgm:t>
        <a:bodyPr/>
        <a:lstStyle/>
        <a:p>
          <a:endParaRPr lang="en-IN"/>
        </a:p>
      </dgm:t>
    </dgm:pt>
    <dgm:pt modelId="{7601FE61-1952-4B60-8F07-8901B9C2DFAE}">
      <dgm:prSet/>
      <dgm:spPr/>
      <dgm:t>
        <a:bodyPr/>
        <a:lstStyle/>
        <a:p>
          <a:pPr algn="ctr"/>
          <a:r>
            <a:rPr lang="en-IN" dirty="0"/>
            <a:t>Account Management </a:t>
          </a:r>
        </a:p>
      </dgm:t>
    </dgm:pt>
    <dgm:pt modelId="{20434E13-A333-470A-AAC0-94BB818E392F}" type="parTrans" cxnId="{6A0B6F51-56AA-4ED8-AC36-3150AE87BFC4}">
      <dgm:prSet/>
      <dgm:spPr/>
      <dgm:t>
        <a:bodyPr/>
        <a:lstStyle/>
        <a:p>
          <a:endParaRPr lang="en-IN"/>
        </a:p>
      </dgm:t>
    </dgm:pt>
    <dgm:pt modelId="{00593EAC-3EBB-48B1-8C8F-2819E1029431}" type="sibTrans" cxnId="{6A0B6F51-56AA-4ED8-AC36-3150AE87BFC4}">
      <dgm:prSet/>
      <dgm:spPr/>
      <dgm:t>
        <a:bodyPr/>
        <a:lstStyle/>
        <a:p>
          <a:endParaRPr lang="en-IN"/>
        </a:p>
      </dgm:t>
    </dgm:pt>
    <dgm:pt modelId="{580EAD2F-BE67-4697-8DBA-94D90C9DD437}">
      <dgm:prSet/>
      <dgm:spPr/>
      <dgm:t>
        <a:bodyPr/>
        <a:lstStyle/>
        <a:p>
          <a:pPr algn="ctr"/>
          <a:r>
            <a:rPr lang="en-IN" dirty="0"/>
            <a:t>Branch Management </a:t>
          </a:r>
        </a:p>
      </dgm:t>
    </dgm:pt>
    <dgm:pt modelId="{92B9A0A6-8617-41A8-A9E5-2D1EDE0B84B1}" type="parTrans" cxnId="{123011BE-74EB-4EB2-86BF-3F72137F83EC}">
      <dgm:prSet/>
      <dgm:spPr/>
      <dgm:t>
        <a:bodyPr/>
        <a:lstStyle/>
        <a:p>
          <a:endParaRPr lang="en-IN"/>
        </a:p>
      </dgm:t>
    </dgm:pt>
    <dgm:pt modelId="{91F81938-6C76-4458-ABDB-CB890CD6C18B}" type="sibTrans" cxnId="{123011BE-74EB-4EB2-86BF-3F72137F83EC}">
      <dgm:prSet/>
      <dgm:spPr/>
      <dgm:t>
        <a:bodyPr/>
        <a:lstStyle/>
        <a:p>
          <a:endParaRPr lang="en-IN"/>
        </a:p>
      </dgm:t>
    </dgm:pt>
    <dgm:pt modelId="{E50999AB-0AE7-48B0-9458-0FB58E8524CF}">
      <dgm:prSet/>
      <dgm:spPr/>
      <dgm:t>
        <a:bodyPr/>
        <a:lstStyle/>
        <a:p>
          <a:pPr algn="ctr"/>
          <a:r>
            <a:rPr lang="en-IN" dirty="0"/>
            <a:t>Employee Management </a:t>
          </a:r>
        </a:p>
      </dgm:t>
    </dgm:pt>
    <dgm:pt modelId="{A1FA437B-61FD-4429-85CE-631E6EC148C5}" type="parTrans" cxnId="{78C20117-AC02-42DE-88E6-AC3BB430132E}">
      <dgm:prSet/>
      <dgm:spPr/>
      <dgm:t>
        <a:bodyPr/>
        <a:lstStyle/>
        <a:p>
          <a:endParaRPr lang="en-IN"/>
        </a:p>
      </dgm:t>
    </dgm:pt>
    <dgm:pt modelId="{FD5A8515-2ADC-46C5-AC50-960645F1E917}" type="sibTrans" cxnId="{78C20117-AC02-42DE-88E6-AC3BB430132E}">
      <dgm:prSet/>
      <dgm:spPr/>
      <dgm:t>
        <a:bodyPr/>
        <a:lstStyle/>
        <a:p>
          <a:endParaRPr lang="en-IN"/>
        </a:p>
      </dgm:t>
    </dgm:pt>
    <dgm:pt modelId="{D290739F-9DD8-45BC-876B-D460C6FA840A}">
      <dgm:prSet/>
      <dgm:spPr/>
      <dgm:t>
        <a:bodyPr/>
        <a:lstStyle/>
        <a:p>
          <a:pPr algn="ctr"/>
          <a:r>
            <a:rPr lang="en-IN"/>
            <a:t>Transaction Management </a:t>
          </a:r>
        </a:p>
      </dgm:t>
    </dgm:pt>
    <dgm:pt modelId="{DAD265A0-ECBA-4109-8C67-567BC6104C02}" type="parTrans" cxnId="{79F56CDB-2637-4F19-8A4F-9C72B778AE69}">
      <dgm:prSet/>
      <dgm:spPr/>
      <dgm:t>
        <a:bodyPr/>
        <a:lstStyle/>
        <a:p>
          <a:endParaRPr lang="en-IN"/>
        </a:p>
      </dgm:t>
    </dgm:pt>
    <dgm:pt modelId="{14441B39-D1C5-4F1C-A243-62FF80D46E8B}" type="sibTrans" cxnId="{79F56CDB-2637-4F19-8A4F-9C72B778AE69}">
      <dgm:prSet/>
      <dgm:spPr/>
      <dgm:t>
        <a:bodyPr/>
        <a:lstStyle/>
        <a:p>
          <a:endParaRPr lang="en-IN"/>
        </a:p>
      </dgm:t>
    </dgm:pt>
    <dgm:pt modelId="{69BD7C57-1275-4934-9267-1A17ED86DC6F}">
      <dgm:prSet/>
      <dgm:spPr/>
      <dgm:t>
        <a:bodyPr/>
        <a:lstStyle/>
        <a:p>
          <a:pPr algn="ctr"/>
          <a:r>
            <a:rPr lang="en-IN"/>
            <a:t>Loan Management</a:t>
          </a:r>
        </a:p>
      </dgm:t>
    </dgm:pt>
    <dgm:pt modelId="{BBBB2CEE-FC4E-4B1E-87B2-3B809243B93D}" type="parTrans" cxnId="{A946B81D-F5EA-45A6-B7B1-0392E7235255}">
      <dgm:prSet/>
      <dgm:spPr/>
      <dgm:t>
        <a:bodyPr/>
        <a:lstStyle/>
        <a:p>
          <a:endParaRPr lang="en-IN"/>
        </a:p>
      </dgm:t>
    </dgm:pt>
    <dgm:pt modelId="{0EB340A9-C155-40EB-901E-CF91E16D5C76}" type="sibTrans" cxnId="{A946B81D-F5EA-45A6-B7B1-0392E7235255}">
      <dgm:prSet/>
      <dgm:spPr/>
      <dgm:t>
        <a:bodyPr/>
        <a:lstStyle/>
        <a:p>
          <a:endParaRPr lang="en-IN"/>
        </a:p>
      </dgm:t>
    </dgm:pt>
    <dgm:pt modelId="{87463CAC-49F7-4E1F-88C8-3CA3A44C3594}" type="pres">
      <dgm:prSet presAssocID="{3C1E3DF2-CBD1-4DCF-80F6-5106A365EDC5}" presName="linear" presStyleCnt="0">
        <dgm:presLayoutVars>
          <dgm:animLvl val="lvl"/>
          <dgm:resizeHandles val="exact"/>
        </dgm:presLayoutVars>
      </dgm:prSet>
      <dgm:spPr/>
    </dgm:pt>
    <dgm:pt modelId="{9D7FCEC8-13BC-4564-AB55-CE2D1BCC9706}" type="pres">
      <dgm:prSet presAssocID="{4434F1E7-5DDF-445A-A0D5-1FDB18CAB86E}" presName="parentText" presStyleLbl="node1" presStyleIdx="0" presStyleCnt="6" custLinFactX="86300" custLinFactNeighborX="100000" custLinFactNeighborY="-7400">
        <dgm:presLayoutVars>
          <dgm:chMax val="0"/>
          <dgm:bulletEnabled val="1"/>
        </dgm:presLayoutVars>
      </dgm:prSet>
      <dgm:spPr/>
    </dgm:pt>
    <dgm:pt modelId="{B45B5DF5-DFEF-4592-A352-55CE9447427A}" type="pres">
      <dgm:prSet presAssocID="{824752D7-CADE-403D-A20A-5C03235C1057}" presName="spacer" presStyleCnt="0"/>
      <dgm:spPr/>
    </dgm:pt>
    <dgm:pt modelId="{E57DA568-2CC7-4795-91CE-7666B1B5DA36}" type="pres">
      <dgm:prSet presAssocID="{7601FE61-1952-4B60-8F07-8901B9C2DFA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F574A01-7FB2-40C4-8E78-443B0CAD1D39}" type="pres">
      <dgm:prSet presAssocID="{00593EAC-3EBB-48B1-8C8F-2819E1029431}" presName="spacer" presStyleCnt="0"/>
      <dgm:spPr/>
    </dgm:pt>
    <dgm:pt modelId="{BA805F31-1BC1-4741-BE88-1C93D70D6FEB}" type="pres">
      <dgm:prSet presAssocID="{580EAD2F-BE67-4697-8DBA-94D90C9DD43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071FEC0-F84F-4191-8EF1-66F2DFE5C6E5}" type="pres">
      <dgm:prSet presAssocID="{91F81938-6C76-4458-ABDB-CB890CD6C18B}" presName="spacer" presStyleCnt="0"/>
      <dgm:spPr/>
    </dgm:pt>
    <dgm:pt modelId="{E3163ADE-A140-4DF2-AFFD-EA19E7178262}" type="pres">
      <dgm:prSet presAssocID="{E50999AB-0AE7-48B0-9458-0FB58E8524C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AE0519F-04DC-417F-AE7E-ADA608F37B01}" type="pres">
      <dgm:prSet presAssocID="{FD5A8515-2ADC-46C5-AC50-960645F1E917}" presName="spacer" presStyleCnt="0"/>
      <dgm:spPr/>
    </dgm:pt>
    <dgm:pt modelId="{7FF9DC5D-E016-4F23-BFCE-48E60E4678F6}" type="pres">
      <dgm:prSet presAssocID="{D290739F-9DD8-45BC-876B-D460C6FA840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3BC69F5-40AD-40FF-841E-095A26EF78EC}" type="pres">
      <dgm:prSet presAssocID="{14441B39-D1C5-4F1C-A243-62FF80D46E8B}" presName="spacer" presStyleCnt="0"/>
      <dgm:spPr/>
    </dgm:pt>
    <dgm:pt modelId="{6E27F6B4-05DB-4AE5-BFF7-C4BD02905D83}" type="pres">
      <dgm:prSet presAssocID="{69BD7C57-1275-4934-9267-1A17ED86DC6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8C20117-AC02-42DE-88E6-AC3BB430132E}" srcId="{3C1E3DF2-CBD1-4DCF-80F6-5106A365EDC5}" destId="{E50999AB-0AE7-48B0-9458-0FB58E8524CF}" srcOrd="3" destOrd="0" parTransId="{A1FA437B-61FD-4429-85CE-631E6EC148C5}" sibTransId="{FD5A8515-2ADC-46C5-AC50-960645F1E917}"/>
    <dgm:cxn modelId="{A946B81D-F5EA-45A6-B7B1-0392E7235255}" srcId="{3C1E3DF2-CBD1-4DCF-80F6-5106A365EDC5}" destId="{69BD7C57-1275-4934-9267-1A17ED86DC6F}" srcOrd="5" destOrd="0" parTransId="{BBBB2CEE-FC4E-4B1E-87B2-3B809243B93D}" sibTransId="{0EB340A9-C155-40EB-901E-CF91E16D5C76}"/>
    <dgm:cxn modelId="{1CEE3A4D-85FC-4026-A582-7CA26141E2FF}" srcId="{3C1E3DF2-CBD1-4DCF-80F6-5106A365EDC5}" destId="{4434F1E7-5DDF-445A-A0D5-1FDB18CAB86E}" srcOrd="0" destOrd="0" parTransId="{98AAEBC1-B95A-4236-8D88-CD6311480768}" sibTransId="{824752D7-CADE-403D-A20A-5C03235C1057}"/>
    <dgm:cxn modelId="{6A0B6F51-56AA-4ED8-AC36-3150AE87BFC4}" srcId="{3C1E3DF2-CBD1-4DCF-80F6-5106A365EDC5}" destId="{7601FE61-1952-4B60-8F07-8901B9C2DFAE}" srcOrd="1" destOrd="0" parTransId="{20434E13-A333-470A-AAC0-94BB818E392F}" sibTransId="{00593EAC-3EBB-48B1-8C8F-2819E1029431}"/>
    <dgm:cxn modelId="{A9672D82-775B-472F-9DFB-D9EFA7CBC2B3}" type="presOf" srcId="{580EAD2F-BE67-4697-8DBA-94D90C9DD437}" destId="{BA805F31-1BC1-4741-BE88-1C93D70D6FEB}" srcOrd="0" destOrd="0" presId="urn:microsoft.com/office/officeart/2005/8/layout/vList2"/>
    <dgm:cxn modelId="{EFA74B82-A144-46DD-90DC-7F764CC4095B}" type="presOf" srcId="{3C1E3DF2-CBD1-4DCF-80F6-5106A365EDC5}" destId="{87463CAC-49F7-4E1F-88C8-3CA3A44C3594}" srcOrd="0" destOrd="0" presId="urn:microsoft.com/office/officeart/2005/8/layout/vList2"/>
    <dgm:cxn modelId="{37FB9D8C-16F7-4BAC-B177-8CADBD8A65BE}" type="presOf" srcId="{E50999AB-0AE7-48B0-9458-0FB58E8524CF}" destId="{E3163ADE-A140-4DF2-AFFD-EA19E7178262}" srcOrd="0" destOrd="0" presId="urn:microsoft.com/office/officeart/2005/8/layout/vList2"/>
    <dgm:cxn modelId="{194967A4-26A0-43EA-B0E3-18D7570CB630}" type="presOf" srcId="{69BD7C57-1275-4934-9267-1A17ED86DC6F}" destId="{6E27F6B4-05DB-4AE5-BFF7-C4BD02905D83}" srcOrd="0" destOrd="0" presId="urn:microsoft.com/office/officeart/2005/8/layout/vList2"/>
    <dgm:cxn modelId="{123011BE-74EB-4EB2-86BF-3F72137F83EC}" srcId="{3C1E3DF2-CBD1-4DCF-80F6-5106A365EDC5}" destId="{580EAD2F-BE67-4697-8DBA-94D90C9DD437}" srcOrd="2" destOrd="0" parTransId="{92B9A0A6-8617-41A8-A9E5-2D1EDE0B84B1}" sibTransId="{91F81938-6C76-4458-ABDB-CB890CD6C18B}"/>
    <dgm:cxn modelId="{F51539CE-D7EC-4600-B63F-7020E38C7249}" type="presOf" srcId="{7601FE61-1952-4B60-8F07-8901B9C2DFAE}" destId="{E57DA568-2CC7-4795-91CE-7666B1B5DA36}" srcOrd="0" destOrd="0" presId="urn:microsoft.com/office/officeart/2005/8/layout/vList2"/>
    <dgm:cxn modelId="{79F56CDB-2637-4F19-8A4F-9C72B778AE69}" srcId="{3C1E3DF2-CBD1-4DCF-80F6-5106A365EDC5}" destId="{D290739F-9DD8-45BC-876B-D460C6FA840A}" srcOrd="4" destOrd="0" parTransId="{DAD265A0-ECBA-4109-8C67-567BC6104C02}" sibTransId="{14441B39-D1C5-4F1C-A243-62FF80D46E8B}"/>
    <dgm:cxn modelId="{A8F99DFA-4E42-4DB5-8D89-99238350C8D3}" type="presOf" srcId="{D290739F-9DD8-45BC-876B-D460C6FA840A}" destId="{7FF9DC5D-E016-4F23-BFCE-48E60E4678F6}" srcOrd="0" destOrd="0" presId="urn:microsoft.com/office/officeart/2005/8/layout/vList2"/>
    <dgm:cxn modelId="{0D4E17FE-6568-411A-B802-8D57A19CE229}" type="presOf" srcId="{4434F1E7-5DDF-445A-A0D5-1FDB18CAB86E}" destId="{9D7FCEC8-13BC-4564-AB55-CE2D1BCC9706}" srcOrd="0" destOrd="0" presId="urn:microsoft.com/office/officeart/2005/8/layout/vList2"/>
    <dgm:cxn modelId="{9B97E2FA-A989-46B2-9D96-C85DEE27C351}" type="presParOf" srcId="{87463CAC-49F7-4E1F-88C8-3CA3A44C3594}" destId="{9D7FCEC8-13BC-4564-AB55-CE2D1BCC9706}" srcOrd="0" destOrd="0" presId="urn:microsoft.com/office/officeart/2005/8/layout/vList2"/>
    <dgm:cxn modelId="{12BB5CE1-2E34-44AC-9C9B-E34B6DF90E39}" type="presParOf" srcId="{87463CAC-49F7-4E1F-88C8-3CA3A44C3594}" destId="{B45B5DF5-DFEF-4592-A352-55CE9447427A}" srcOrd="1" destOrd="0" presId="urn:microsoft.com/office/officeart/2005/8/layout/vList2"/>
    <dgm:cxn modelId="{92FA4E86-0FBB-439A-812F-E99D50D7A5A2}" type="presParOf" srcId="{87463CAC-49F7-4E1F-88C8-3CA3A44C3594}" destId="{E57DA568-2CC7-4795-91CE-7666B1B5DA36}" srcOrd="2" destOrd="0" presId="urn:microsoft.com/office/officeart/2005/8/layout/vList2"/>
    <dgm:cxn modelId="{91CACF8E-9765-44BD-8E2B-1EACF40AA052}" type="presParOf" srcId="{87463CAC-49F7-4E1F-88C8-3CA3A44C3594}" destId="{8F574A01-7FB2-40C4-8E78-443B0CAD1D39}" srcOrd="3" destOrd="0" presId="urn:microsoft.com/office/officeart/2005/8/layout/vList2"/>
    <dgm:cxn modelId="{3EFAE82D-CB7C-44C0-A186-7C15F82D2C53}" type="presParOf" srcId="{87463CAC-49F7-4E1F-88C8-3CA3A44C3594}" destId="{BA805F31-1BC1-4741-BE88-1C93D70D6FEB}" srcOrd="4" destOrd="0" presId="urn:microsoft.com/office/officeart/2005/8/layout/vList2"/>
    <dgm:cxn modelId="{F6C3474C-D15A-4D11-BD10-4B99D52EC8E8}" type="presParOf" srcId="{87463CAC-49F7-4E1F-88C8-3CA3A44C3594}" destId="{0071FEC0-F84F-4191-8EF1-66F2DFE5C6E5}" srcOrd="5" destOrd="0" presId="urn:microsoft.com/office/officeart/2005/8/layout/vList2"/>
    <dgm:cxn modelId="{F881823E-79AF-4D01-9879-A53D763FFBD8}" type="presParOf" srcId="{87463CAC-49F7-4E1F-88C8-3CA3A44C3594}" destId="{E3163ADE-A140-4DF2-AFFD-EA19E7178262}" srcOrd="6" destOrd="0" presId="urn:microsoft.com/office/officeart/2005/8/layout/vList2"/>
    <dgm:cxn modelId="{8C3B3A67-9E69-4956-8E09-31F866B9F2AF}" type="presParOf" srcId="{87463CAC-49F7-4E1F-88C8-3CA3A44C3594}" destId="{DAE0519F-04DC-417F-AE7E-ADA608F37B01}" srcOrd="7" destOrd="0" presId="urn:microsoft.com/office/officeart/2005/8/layout/vList2"/>
    <dgm:cxn modelId="{33414241-BC0B-45AA-9DEA-00E092893628}" type="presParOf" srcId="{87463CAC-49F7-4E1F-88C8-3CA3A44C3594}" destId="{7FF9DC5D-E016-4F23-BFCE-48E60E4678F6}" srcOrd="8" destOrd="0" presId="urn:microsoft.com/office/officeart/2005/8/layout/vList2"/>
    <dgm:cxn modelId="{09C4A145-FC8E-427D-815F-782E5219D4C1}" type="presParOf" srcId="{87463CAC-49F7-4E1F-88C8-3CA3A44C3594}" destId="{C3BC69F5-40AD-40FF-841E-095A26EF78EC}" srcOrd="9" destOrd="0" presId="urn:microsoft.com/office/officeart/2005/8/layout/vList2"/>
    <dgm:cxn modelId="{EA39BD34-CB18-4A0A-95B3-8EBFEE64C146}" type="presParOf" srcId="{87463CAC-49F7-4E1F-88C8-3CA3A44C3594}" destId="{6E27F6B4-05DB-4AE5-BFF7-C4BD02905D8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FCEC8-13BC-4564-AB55-CE2D1BCC9706}">
      <dsp:nvSpPr>
        <dsp:cNvPr id="0" name=""/>
        <dsp:cNvSpPr/>
      </dsp:nvSpPr>
      <dsp:spPr>
        <a:xfrm>
          <a:off x="0" y="43008"/>
          <a:ext cx="3395208" cy="33579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Customer Management </a:t>
          </a:r>
        </a:p>
      </dsp:txBody>
      <dsp:txXfrm>
        <a:off x="16392" y="59400"/>
        <a:ext cx="3362424" cy="303006"/>
      </dsp:txXfrm>
    </dsp:sp>
    <dsp:sp modelId="{E57DA568-2CC7-4795-91CE-7666B1B5DA36}">
      <dsp:nvSpPr>
        <dsp:cNvPr id="0" name=""/>
        <dsp:cNvSpPr/>
      </dsp:nvSpPr>
      <dsp:spPr>
        <a:xfrm>
          <a:off x="0" y="422102"/>
          <a:ext cx="3395208" cy="33579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Account Management </a:t>
          </a:r>
        </a:p>
      </dsp:txBody>
      <dsp:txXfrm>
        <a:off x="16392" y="438494"/>
        <a:ext cx="3362424" cy="303006"/>
      </dsp:txXfrm>
    </dsp:sp>
    <dsp:sp modelId="{BA805F31-1BC1-4741-BE88-1C93D70D6FEB}">
      <dsp:nvSpPr>
        <dsp:cNvPr id="0" name=""/>
        <dsp:cNvSpPr/>
      </dsp:nvSpPr>
      <dsp:spPr>
        <a:xfrm>
          <a:off x="0" y="798212"/>
          <a:ext cx="3395208" cy="33579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Branch Management </a:t>
          </a:r>
        </a:p>
      </dsp:txBody>
      <dsp:txXfrm>
        <a:off x="16392" y="814604"/>
        <a:ext cx="3362424" cy="303006"/>
      </dsp:txXfrm>
    </dsp:sp>
    <dsp:sp modelId="{E3163ADE-A140-4DF2-AFFD-EA19E7178262}">
      <dsp:nvSpPr>
        <dsp:cNvPr id="0" name=""/>
        <dsp:cNvSpPr/>
      </dsp:nvSpPr>
      <dsp:spPr>
        <a:xfrm>
          <a:off x="0" y="1174322"/>
          <a:ext cx="3395208" cy="33579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Employee Management </a:t>
          </a:r>
        </a:p>
      </dsp:txBody>
      <dsp:txXfrm>
        <a:off x="16392" y="1190714"/>
        <a:ext cx="3362424" cy="303006"/>
      </dsp:txXfrm>
    </dsp:sp>
    <dsp:sp modelId="{7FF9DC5D-E016-4F23-BFCE-48E60E4678F6}">
      <dsp:nvSpPr>
        <dsp:cNvPr id="0" name=""/>
        <dsp:cNvSpPr/>
      </dsp:nvSpPr>
      <dsp:spPr>
        <a:xfrm>
          <a:off x="0" y="1550432"/>
          <a:ext cx="3395208" cy="33579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Transaction Management </a:t>
          </a:r>
        </a:p>
      </dsp:txBody>
      <dsp:txXfrm>
        <a:off x="16392" y="1566824"/>
        <a:ext cx="3362424" cy="303006"/>
      </dsp:txXfrm>
    </dsp:sp>
    <dsp:sp modelId="{6E27F6B4-05DB-4AE5-BFF7-C4BD02905D83}">
      <dsp:nvSpPr>
        <dsp:cNvPr id="0" name=""/>
        <dsp:cNvSpPr/>
      </dsp:nvSpPr>
      <dsp:spPr>
        <a:xfrm>
          <a:off x="0" y="1926542"/>
          <a:ext cx="3395208" cy="33579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Loan Management</a:t>
          </a:r>
        </a:p>
      </dsp:txBody>
      <dsp:txXfrm>
        <a:off x="16392" y="1942934"/>
        <a:ext cx="3362424" cy="303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BF08A-D188-40D8-9FE3-372EAB62215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120E0C-8026-476E-B231-B186750FD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129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120E0C-8026-476E-B231-B186750FDE4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57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120E0C-8026-476E-B231-B186750FDE4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296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46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">
            <a:extLst>
              <a:ext uri="{FF2B5EF4-FFF2-40B4-BE49-F238E27FC236}">
                <a16:creationId xmlns:a16="http://schemas.microsoft.com/office/drawing/2014/main" id="{61979408-07F7-12FC-2899-384173BCBAF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66037" y="184188"/>
            <a:ext cx="2038086" cy="6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91440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533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Database Management System</a:t>
            </a:r>
            <a:endParaRPr lang="en-US" sz="4533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20116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A7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– Review II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2462784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</a:t>
            </a:r>
            <a:endParaRPr lang="en-US" sz="1733" dirty="0"/>
          </a:p>
        </p:txBody>
      </p:sp>
      <p:sp>
        <p:nvSpPr>
          <p:cNvPr id="6" name="Text 3"/>
          <p:cNvSpPr txBox="1"/>
          <p:nvPr/>
        </p:nvSpPr>
        <p:spPr>
          <a:xfrm>
            <a:off x="609600" y="2804160"/>
            <a:ext cx="10972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(2501IT05)</a:t>
            </a:r>
            <a:endParaRPr lang="en-US" sz="1733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3413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A7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733" dirty="0"/>
          </a:p>
        </p:txBody>
      </p:sp>
      <p:sp>
        <p:nvSpPr>
          <p:cNvPr id="8" name="Shape 5"/>
          <p:cNvSpPr/>
          <p:nvPr/>
        </p:nvSpPr>
        <p:spPr>
          <a:xfrm>
            <a:off x="701040" y="3840480"/>
            <a:ext cx="1612392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B27A"/>
            </a:solidFill>
            <a:prstDash val="solid"/>
          </a:ln>
          <a:effectLst>
            <a:outerShdw blurRad="50800" dist="12700" dir="5400000" algn="bl" rotWithShape="0">
              <a:srgbClr val="0F2747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01040" y="3840480"/>
            <a:ext cx="1612392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S.ARAVINDA REDDY</a:t>
            </a:r>
            <a:endParaRPr lang="en-US" sz="1600" dirty="0"/>
          </a:p>
          <a:p>
            <a:pPr algn="ctr"/>
            <a:r>
              <a:rPr lang="en-US" sz="133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A7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25B11AIB48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006852" y="3874008"/>
            <a:ext cx="163068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B27A"/>
            </a:solidFill>
            <a:prstDash val="solid"/>
          </a:ln>
          <a:effectLst>
            <a:outerShdw blurRad="50800" dist="12700" dir="5400000" algn="bl" rotWithShape="0">
              <a:srgbClr val="0F2747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006852" y="3785616"/>
            <a:ext cx="16306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M.GANGADHAR</a:t>
            </a:r>
            <a:endParaRPr lang="en-US" sz="1600" dirty="0"/>
          </a:p>
          <a:p>
            <a:pPr algn="ctr"/>
            <a:r>
              <a:rPr lang="en-US" sz="133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A7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25B11AI658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98364" y="3840480"/>
            <a:ext cx="1740408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B27A"/>
            </a:solidFill>
            <a:prstDash val="solid"/>
          </a:ln>
          <a:effectLst>
            <a:outerShdw blurRad="50800" dist="12700" dir="5400000" algn="bl" rotWithShape="0">
              <a:srgbClr val="0F2747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189220" y="3831336"/>
            <a:ext cx="1740408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T.ESWAR VARDHAN</a:t>
            </a:r>
            <a:endParaRPr lang="en-US" sz="1600" dirty="0"/>
          </a:p>
          <a:p>
            <a:pPr algn="ctr"/>
            <a:r>
              <a:rPr lang="en-US" sz="133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A7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25B11AIB99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44740" y="3840480"/>
            <a:ext cx="1740408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CDB27A"/>
            </a:solidFill>
            <a:prstDash val="solid"/>
          </a:ln>
          <a:effectLst>
            <a:outerShdw blurRad="50800" dist="12700" dir="5400000" algn="bl" rotWithShape="0">
              <a:srgbClr val="0F2747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01040" y="5300472"/>
            <a:ext cx="109728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467" dirty="0"/>
          </a:p>
          <a:p>
            <a:pPr algn="ctr"/>
            <a:r>
              <a:rPr lang="en-US" sz="20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P. Kishorekumar, PhD.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Department of AIML</a:t>
            </a:r>
            <a:endParaRPr lang="en-US" sz="1467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73814C2-C5FE-5DD3-81BC-60D6DBEFB052}"/>
              </a:ext>
            </a:extLst>
          </p:cNvPr>
          <p:cNvSpPr txBox="1"/>
          <p:nvPr/>
        </p:nvSpPr>
        <p:spPr>
          <a:xfrm>
            <a:off x="7435596" y="3797808"/>
            <a:ext cx="1740408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V.SATYA SAI</a:t>
            </a:r>
            <a:endParaRPr lang="en-US" sz="1600" dirty="0"/>
          </a:p>
          <a:p>
            <a:pPr algn="ctr"/>
            <a:r>
              <a:rPr lang="en-US" sz="1333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A7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26B21AI151</a:t>
            </a:r>
            <a:endParaRPr lang="en-US" sz="160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BF3F8CC1-6968-D7BE-7D71-EC929D8BBF36}"/>
              </a:ext>
            </a:extLst>
          </p:cNvPr>
          <p:cNvSpPr/>
          <p:nvPr/>
        </p:nvSpPr>
        <p:spPr>
          <a:xfrm>
            <a:off x="9750552" y="3855720"/>
            <a:ext cx="1740408" cy="1158240"/>
          </a:xfrm>
          <a:prstGeom prst="rect">
            <a:avLst/>
          </a:prstGeom>
          <a:solidFill>
            <a:schemeClr val="bg1"/>
          </a:solidFill>
          <a:ln w="9525">
            <a:solidFill>
              <a:srgbClr val="CDB27A"/>
            </a:solidFill>
            <a:prstDash val="solid"/>
          </a:ln>
          <a:effectLst>
            <a:outerShdw blurRad="50800" dist="12700" dir="5400000" algn="bl" rotWithShape="0">
              <a:srgbClr val="0F2747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K.V.SAI GANESH</a:t>
            </a:r>
            <a:endParaRPr lang="en-US" dirty="0"/>
          </a:p>
          <a:p>
            <a:pPr algn="ctr"/>
            <a:r>
              <a:rPr lang="en-US" sz="16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</a:t>
            </a:r>
            <a:endParaRPr lang="en-US" dirty="0"/>
          </a:p>
          <a:p>
            <a:pPr algn="ctr"/>
            <a:r>
              <a:rPr lang="en-US" b="1" dirty="0">
                <a:solidFill>
                  <a:srgbClr val="A7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25B11AI537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5687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1.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B4352-9DF3-D1F9-B0EE-558483907B6C}"/>
              </a:ext>
            </a:extLst>
          </p:cNvPr>
          <p:cNvSpPr txBox="1"/>
          <p:nvPr/>
        </p:nvSpPr>
        <p:spPr>
          <a:xfrm>
            <a:off x="906449" y="1455656"/>
            <a:ext cx="104400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Software Database Management System</a:t>
            </a:r>
            <a:r>
              <a:rPr lang="en-IN" dirty="0"/>
              <a:t> is a database system for managing software development and project-related information.</a:t>
            </a:r>
          </a:p>
          <a:p>
            <a:r>
              <a:rPr lang="en-IN" dirty="0"/>
              <a:t>• It stores </a:t>
            </a:r>
            <a:r>
              <a:rPr lang="en-IN" b="1" dirty="0"/>
              <a:t>client, project, employee, team, software product, requirement, issue, and project assignment</a:t>
            </a:r>
            <a:r>
              <a:rPr lang="en-IN" dirty="0"/>
              <a:t> details.</a:t>
            </a:r>
          </a:p>
          <a:p>
            <a:r>
              <a:rPr lang="en-IN" dirty="0"/>
              <a:t>• It maintains relationships between different tables using </a:t>
            </a:r>
            <a:r>
              <a:rPr lang="en-IN" b="1" dirty="0"/>
              <a:t>Primary Keys and Foreign Keys</a:t>
            </a:r>
            <a:r>
              <a:rPr lang="en-IN" dirty="0"/>
              <a:t>.</a:t>
            </a:r>
          </a:p>
          <a:p>
            <a:r>
              <a:rPr lang="en-IN" dirty="0"/>
              <a:t>• SQL is used to </a:t>
            </a:r>
            <a:r>
              <a:rPr lang="en-IN" b="1" dirty="0"/>
              <a:t>insert, update, delete, retrieve, and </a:t>
            </a:r>
            <a:r>
              <a:rPr lang="en-IN" b="1" dirty="0" err="1"/>
              <a:t>analyze</a:t>
            </a:r>
            <a:r>
              <a:rPr lang="en-IN" b="1" dirty="0"/>
              <a:t> data</a:t>
            </a:r>
            <a:r>
              <a:rPr lang="en-IN" dirty="0"/>
              <a:t>.</a:t>
            </a:r>
          </a:p>
          <a:p>
            <a:r>
              <a:rPr lang="en-IN" dirty="0"/>
              <a:t>• Constraints are used to maintain </a:t>
            </a:r>
            <a:r>
              <a:rPr lang="en-IN" b="1" dirty="0"/>
              <a:t>data accuracy and integrity</a:t>
            </a:r>
            <a:r>
              <a:rPr lang="en-IN" dirty="0"/>
              <a:t>.</a:t>
            </a:r>
          </a:p>
          <a:p>
            <a:r>
              <a:rPr lang="en-IN" dirty="0"/>
              <a:t>• The system reduces </a:t>
            </a:r>
            <a:r>
              <a:rPr lang="en-IN" b="1" dirty="0"/>
              <a:t>data duplication through normalization</a:t>
            </a:r>
            <a:r>
              <a:rPr lang="en-IN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2E7D8-AF27-DFA0-DC86-1379C56E693C}"/>
              </a:ext>
            </a:extLst>
          </p:cNvPr>
          <p:cNvSpPr txBox="1"/>
          <p:nvPr/>
        </p:nvSpPr>
        <p:spPr>
          <a:xfrm>
            <a:off x="906449" y="3692818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Aptos Display" panose="020B0004020202020204" pitchFamily="34" charset="0"/>
              </a:rPr>
              <a:t>Main Modules :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4326DEF2-C5DD-36C1-0D7D-19177EC8A8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33727"/>
              </p:ext>
            </p:extLst>
          </p:nvPr>
        </p:nvGraphicFramePr>
        <p:xfrm>
          <a:off x="3713301" y="4248182"/>
          <a:ext cx="3395208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E179909-16EB-F1FF-2FA5-6DA574C600B9}"/>
              </a:ext>
            </a:extLst>
          </p:cNvPr>
          <p:cNvSpPr txBox="1"/>
          <p:nvPr/>
        </p:nvSpPr>
        <p:spPr>
          <a:xfrm>
            <a:off x="9857232" y="530352"/>
            <a:ext cx="1489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2. Existing System and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725014"/>
              </p:ext>
            </p:extLst>
          </p:nvPr>
        </p:nvGraphicFramePr>
        <p:xfrm>
          <a:off x="640080" y="1417320"/>
          <a:ext cx="10841603" cy="4322668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Existing System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Proposed System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Software records may be maintained manually or in separate files.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Software data is stored in a centralized relational database.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chances of duplicate project and employee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Normalization reduces data duplication.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Difficult to search and update software project records.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SQL makes searching and updating project records easier.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relationships between projects, teams, and employees may not be clearly maintained.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and Foreign Keys maintain relationships between related tables.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accuracy can be difficult to maintain.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Constraints improve data integrity and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Reports and project analysis may take more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SQL queries provide quick information and analysis.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8902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DC8D48-D572-442F-1470-595CF947BAC9}"/>
              </a:ext>
            </a:extLst>
          </p:cNvPr>
          <p:cNvSpPr txBox="1"/>
          <p:nvPr/>
        </p:nvSpPr>
        <p:spPr>
          <a:xfrm>
            <a:off x="1759227" y="5958309"/>
            <a:ext cx="10112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Manual and scattered data → Organized, connected, and reliable database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599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3. 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DE9582-4F06-A826-9E6A-5CE1C3330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419187"/>
              </p:ext>
            </p:extLst>
          </p:nvPr>
        </p:nvGraphicFramePr>
        <p:xfrm>
          <a:off x="449325" y="1640120"/>
          <a:ext cx="10541495" cy="455813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3381756">
                  <a:extLst>
                    <a:ext uri="{9D8B030D-6E8A-4147-A177-3AD203B41FA5}">
                      <a16:colId xmlns:a16="http://schemas.microsoft.com/office/drawing/2014/main" val="1070120650"/>
                    </a:ext>
                  </a:extLst>
                </a:gridCol>
                <a:gridCol w="7159739">
                  <a:extLst>
                    <a:ext uri="{9D8B030D-6E8A-4147-A177-3AD203B41FA5}">
                      <a16:colId xmlns:a16="http://schemas.microsoft.com/office/drawing/2014/main" val="3653513020"/>
                    </a:ext>
                  </a:extLst>
                </a:gridCol>
              </a:tblGrid>
              <a:tr h="30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Module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Functional Requirement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362457"/>
                  </a:ext>
                </a:extLst>
              </a:tr>
              <a:tr h="30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Client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Add, view, update, and manage client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561482"/>
                  </a:ext>
                </a:extLst>
              </a:tr>
              <a:tr h="30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Project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project name, start date, end date, status, and client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73443"/>
                  </a:ext>
                </a:extLst>
              </a:tr>
              <a:tr h="541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Employee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employee details such as name, email, designation, and department.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567783"/>
                  </a:ext>
                </a:extLst>
              </a:tr>
              <a:tr h="30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Team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 team details, project assignment, and team lead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855460"/>
                  </a:ext>
                </a:extLst>
              </a:tr>
              <a:tr h="541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Software Product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 software product name, version, type, and associated project.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685067"/>
                  </a:ext>
                </a:extLst>
              </a:tr>
              <a:tr h="33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Requirement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 project requirements along with priority and status.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37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Issue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Record reported issues, assigned employees, severity, and status.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7659396"/>
                  </a:ext>
                </a:extLst>
              </a:tr>
              <a:tr h="33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Project Assignment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Manage employee assignments to projects and teams with their roles and assignment dates.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655369"/>
                  </a:ext>
                </a:extLst>
              </a:tr>
              <a:tr h="33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Retrieval &amp; Analysis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 SQL queries, joins, aggregate functions, GROUP BY, and HAVING to retrieve useful project and software development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5476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E9AC7E-50E2-DF3F-D448-3B06FB784F26}"/>
              </a:ext>
            </a:extLst>
          </p:cNvPr>
          <p:cNvSpPr txBox="1"/>
          <p:nvPr/>
        </p:nvSpPr>
        <p:spPr>
          <a:xfrm>
            <a:off x="594360" y="1275588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system should provide the following functions: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51091-B03D-9F45-24FC-E83050BB28A6}"/>
              </a:ext>
            </a:extLst>
          </p:cNvPr>
          <p:cNvSpPr txBox="1"/>
          <p:nvPr/>
        </p:nvSpPr>
        <p:spPr>
          <a:xfrm>
            <a:off x="594360" y="6188990"/>
            <a:ext cx="9867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Key Requirement :</a:t>
            </a:r>
          </a:p>
          <a:p>
            <a:pPr>
              <a:buNone/>
            </a:pPr>
            <a:r>
              <a:rPr lang="en-IN" b="1" dirty="0"/>
              <a:t>	</a:t>
            </a:r>
            <a:r>
              <a:rPr lang="en-IN" dirty="0"/>
              <a:t>The database must maintain accurate, consistent, and secure relationships between all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8275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4. Database Schema Used for Implementation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070464"/>
              </p:ext>
            </p:extLst>
          </p:nvPr>
        </p:nvGraphicFramePr>
        <p:xfrm>
          <a:off x="624840" y="914400"/>
          <a:ext cx="11338560" cy="38404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Table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Primary Key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Foreign Keys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CLIENT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Client_ID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PROJECT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Project_ID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Client_ID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 EMPLOYEE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Employee_ID</a:t>
                      </a:r>
                      <a:r>
                        <a:rPr lang="en-IN" dirty="0"/>
                        <a:t>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4. TEAM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Team_ID</a:t>
                      </a:r>
                      <a:r>
                        <a:rPr lang="en-IN" dirty="0"/>
                        <a:t>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Project_ID (FK), Team_Lead_ID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5. SOFTWARE_PRODUCT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Product_ID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Project_ID</a:t>
                      </a:r>
                      <a:r>
                        <a:rPr lang="en-IN" dirty="0"/>
                        <a:t>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6. REQUIREMENT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Requirement_ID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Project_ID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7. ISSUE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Issue_ID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Project_ID (FK), Reported_By (FK), Assigned_To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702538"/>
                  </a:ext>
                </a:extLst>
              </a:tr>
              <a:tr h="565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8. PROJECT_ASSIGNMENT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Assignment_ID</a:t>
                      </a:r>
                      <a:r>
                        <a:rPr lang="en-IN" dirty="0"/>
                        <a:t>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Project_ID</a:t>
                      </a:r>
                      <a:r>
                        <a:rPr lang="en-IN" dirty="0"/>
                        <a:t> (FK), </a:t>
                      </a:r>
                      <a:r>
                        <a:rPr lang="en-IN" dirty="0" err="1"/>
                        <a:t>Employee_ID</a:t>
                      </a:r>
                      <a:r>
                        <a:rPr lang="en-IN" dirty="0"/>
                        <a:t> (FK), </a:t>
                      </a:r>
                      <a:r>
                        <a:rPr lang="en-IN" dirty="0" err="1"/>
                        <a:t>Team_ID</a:t>
                      </a:r>
                      <a:r>
                        <a:rPr lang="en-IN" dirty="0"/>
                        <a:t>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29499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38CB3-9C0B-3ED0-20A3-AD2BE7E21635}"/>
              </a:ext>
            </a:extLst>
          </p:cNvPr>
          <p:cNvSpPr txBox="1"/>
          <p:nvPr/>
        </p:nvSpPr>
        <p:spPr>
          <a:xfrm>
            <a:off x="624840" y="4920794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Relationships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4F10C-31DF-EA2D-B1FF-AAF8A0376BEB}"/>
              </a:ext>
            </a:extLst>
          </p:cNvPr>
          <p:cNvSpPr txBox="1"/>
          <p:nvPr/>
        </p:nvSpPr>
        <p:spPr>
          <a:xfrm>
            <a:off x="2149503" y="4920794"/>
            <a:ext cx="9813897" cy="175432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dirty="0"/>
              <a:t>• Client → Project </a:t>
            </a:r>
            <a:r>
              <a:rPr lang="en-IN" b="1" dirty="0"/>
              <a:t>(1:M)</a:t>
            </a:r>
            <a:endParaRPr lang="en-IN" dirty="0"/>
          </a:p>
          <a:p>
            <a:r>
              <a:rPr lang="en-IN" dirty="0"/>
              <a:t>• Project → Team </a:t>
            </a:r>
            <a:r>
              <a:rPr lang="en-IN" b="1" dirty="0"/>
              <a:t>(1:M)</a:t>
            </a:r>
            <a:endParaRPr lang="en-IN" dirty="0"/>
          </a:p>
          <a:p>
            <a:r>
              <a:rPr lang="en-IN" dirty="0"/>
              <a:t>• Employee → Team </a:t>
            </a:r>
            <a:r>
              <a:rPr lang="en-IN" b="1" dirty="0"/>
              <a:t>(1:M)</a:t>
            </a:r>
            <a:endParaRPr lang="en-IN" dirty="0"/>
          </a:p>
          <a:p>
            <a:r>
              <a:rPr lang="en-IN" dirty="0"/>
              <a:t>• Project → Software Product </a:t>
            </a:r>
            <a:r>
              <a:rPr lang="en-IN" b="1" dirty="0"/>
              <a:t>(1:M)</a:t>
            </a:r>
            <a:endParaRPr lang="en-IN" dirty="0"/>
          </a:p>
          <a:p>
            <a:r>
              <a:rPr lang="en-IN" dirty="0"/>
              <a:t>• Project → Requirement </a:t>
            </a:r>
            <a:r>
              <a:rPr lang="en-IN" b="1" dirty="0"/>
              <a:t>(1:M)</a:t>
            </a:r>
            <a:endParaRPr lang="en-IN" dirty="0"/>
          </a:p>
          <a:p>
            <a:r>
              <a:rPr lang="en-IN" dirty="0"/>
              <a:t>• Project → Issue </a:t>
            </a:r>
            <a:r>
              <a:rPr lang="en-IN" b="1" dirty="0"/>
              <a:t>(1:M)</a:t>
            </a:r>
            <a:endParaRPr lang="en-IN" dirty="0"/>
          </a:p>
          <a:p>
            <a:r>
              <a:rPr lang="en-IN" dirty="0"/>
              <a:t>• Employee → Issue </a:t>
            </a:r>
            <a:r>
              <a:rPr lang="en-IN" b="1" dirty="0"/>
              <a:t>(1:M)</a:t>
            </a:r>
            <a:endParaRPr lang="en-IN" dirty="0"/>
          </a:p>
          <a:p>
            <a:r>
              <a:rPr lang="en-IN" dirty="0"/>
              <a:t>• Project → Project Assignment </a:t>
            </a:r>
            <a:r>
              <a:rPr lang="en-IN" b="1" dirty="0"/>
              <a:t>(1:M)</a:t>
            </a:r>
            <a:endParaRPr lang="en-IN" dirty="0"/>
          </a:p>
          <a:p>
            <a:r>
              <a:rPr lang="en-IN" dirty="0"/>
              <a:t>• Employee → Project Assignment </a:t>
            </a:r>
            <a:r>
              <a:rPr lang="en-IN" b="1" dirty="0"/>
              <a:t>(1:M)</a:t>
            </a:r>
            <a:endParaRPr lang="en-IN" dirty="0"/>
          </a:p>
          <a:p>
            <a:r>
              <a:rPr lang="en-IN" dirty="0"/>
              <a:t>• Team → Project Assignment </a:t>
            </a:r>
            <a:r>
              <a:rPr lang="en-IN" b="1" dirty="0"/>
              <a:t>(1:M)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5. Table Design and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840182"/>
              </p:ext>
            </p:extLst>
          </p:nvPr>
        </p:nvGraphicFramePr>
        <p:xfrm>
          <a:off x="441960" y="1463040"/>
          <a:ext cx="113233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6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Table</a:t>
                      </a:r>
                      <a:endParaRPr lang="en-IN" dirty="0"/>
                    </a:p>
                  </a:txBody>
                  <a:tcPr anchor="ctr"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Key / Validation Rules</a:t>
                      </a:r>
                      <a:endParaRPr lang="en-IN" dirty="0"/>
                    </a:p>
                  </a:txBody>
                  <a:tcPr anchor="ctr"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Table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/ Validation Rules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Client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Client_ID; NOT NULL Client_Name, Email, Phone, Organization; UNIQUE Email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Project</a:t>
                      </a:r>
                      <a:endParaRPr lang="en-IN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Project_ID; NOT NULL Project_Name, Start_Date, Status; FK Client_ID; CHECK End_Date &gt;= Start_Date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Employee</a:t>
                      </a:r>
                      <a:endParaRPr lang="en-IN" dirty="0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Employee_ID; NOT NULL Employee_Name, Email, Designation, Department; UNIQUE Email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Team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PK </a:t>
                      </a:r>
                      <a:r>
                        <a:rPr lang="en-IN" dirty="0" err="1"/>
                        <a:t>Team_ID</a:t>
                      </a:r>
                      <a:r>
                        <a:rPr lang="en-IN" dirty="0"/>
                        <a:t>; NOT NULL </a:t>
                      </a:r>
                      <a:r>
                        <a:rPr lang="en-IN" dirty="0" err="1"/>
                        <a:t>Team_Name</a:t>
                      </a:r>
                      <a:r>
                        <a:rPr lang="en-IN" dirty="0"/>
                        <a:t>; FK </a:t>
                      </a:r>
                      <a:r>
                        <a:rPr lang="en-IN" dirty="0" err="1"/>
                        <a:t>Project_ID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Team_Lead_ID</a:t>
                      </a:r>
                      <a:r>
                        <a:rPr lang="en-IN" dirty="0"/>
                        <a:t>; UNIQUE </a:t>
                      </a:r>
                      <a:r>
                        <a:rPr lang="en-IN" dirty="0" err="1"/>
                        <a:t>Team_Name</a:t>
                      </a:r>
                      <a:endParaRPr lang="en-IN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Software_Product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Product_ID; NOT NULL Product_Name, Version, Product_Type; FK Project_ID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Requirement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PK Requirement_ID; NOT NULL Requirement_Title, Priority, Status; FK Project_ID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082113"/>
                  </a:ext>
                </a:extLst>
              </a:tr>
              <a:tr h="343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Issue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PK </a:t>
                      </a:r>
                      <a:r>
                        <a:rPr lang="en-IN" dirty="0" err="1"/>
                        <a:t>Issue_ID</a:t>
                      </a:r>
                      <a:r>
                        <a:rPr lang="en-IN" dirty="0"/>
                        <a:t>; NOT NULL Severity, Status; FK </a:t>
                      </a:r>
                      <a:r>
                        <a:rPr lang="en-IN" dirty="0" err="1"/>
                        <a:t>Project_ID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Reported_By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Assigned_To</a:t>
                      </a:r>
                      <a:endParaRPr lang="en-IN" dirty="0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4097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1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6. Normalization up to 3NF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1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1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8A162-9FE7-9D31-50CB-342316939106}"/>
              </a:ext>
            </a:extLst>
          </p:cNvPr>
          <p:cNvSpPr txBox="1"/>
          <p:nvPr/>
        </p:nvSpPr>
        <p:spPr>
          <a:xfrm>
            <a:off x="594360" y="1283050"/>
            <a:ext cx="9885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Purpose:</a:t>
            </a:r>
            <a:br>
              <a:rPr lang="en-IN" dirty="0"/>
            </a:br>
            <a:r>
              <a:rPr lang="en-IN" dirty="0"/>
              <a:t>	Normalization organizes the database to </a:t>
            </a:r>
            <a:r>
              <a:rPr lang="en-IN" b="1" dirty="0"/>
              <a:t>reduce duplicate data</a:t>
            </a:r>
            <a:r>
              <a:rPr lang="en-IN" dirty="0"/>
              <a:t> and </a:t>
            </a:r>
            <a:r>
              <a:rPr lang="en-IN" b="1" dirty="0"/>
              <a:t>avoid data inconsistency</a:t>
            </a:r>
            <a:r>
              <a:rPr lang="en-IN" dirty="0"/>
              <a:t>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226F15-AB99-D472-407C-F88955AAC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468630"/>
              </p:ext>
            </p:extLst>
          </p:nvPr>
        </p:nvGraphicFramePr>
        <p:xfrm>
          <a:off x="674868" y="2101435"/>
          <a:ext cx="10811786" cy="27062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405893">
                  <a:extLst>
                    <a:ext uri="{9D8B030D-6E8A-4147-A177-3AD203B41FA5}">
                      <a16:colId xmlns:a16="http://schemas.microsoft.com/office/drawing/2014/main" val="1860674282"/>
                    </a:ext>
                  </a:extLst>
                </a:gridCol>
                <a:gridCol w="5405893">
                  <a:extLst>
                    <a:ext uri="{9D8B030D-6E8A-4147-A177-3AD203B41FA5}">
                      <a16:colId xmlns:a16="http://schemas.microsoft.com/office/drawing/2014/main" val="233917957"/>
                    </a:ext>
                  </a:extLst>
                </a:gridCol>
              </a:tblGrid>
              <a:tr h="342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Normal 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Implementation in Our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771020"/>
                  </a:ext>
                </a:extLst>
              </a:tr>
              <a:tr h="420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Each table has atomic values and no repeating groups.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106558"/>
                  </a:ext>
                </a:extLst>
              </a:tr>
              <a:tr h="60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non-key attributes depend on the complete primary key.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952704"/>
                  </a:ext>
                </a:extLst>
              </a:tr>
              <a:tr h="60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unnecessary dependency between non-key attributes.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180228"/>
                  </a:ext>
                </a:extLst>
              </a:tr>
              <a:tr h="600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duplication is reduced and tables are easier to maintain.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43897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9C311A-1982-77B2-BB83-88720232F1E9}"/>
              </a:ext>
            </a:extLst>
          </p:cNvPr>
          <p:cNvSpPr txBox="1"/>
          <p:nvPr/>
        </p:nvSpPr>
        <p:spPr>
          <a:xfrm>
            <a:off x="1027707" y="4986143"/>
            <a:ext cx="58740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</a:t>
            </a:r>
            <a:endParaRPr lang="en-IN" dirty="0"/>
          </a:p>
          <a:p>
            <a:r>
              <a:rPr lang="en-IN" dirty="0"/>
              <a:t>Instead of storing project and client details repeatedly in the </a:t>
            </a:r>
            <a:r>
              <a:rPr lang="en-IN" b="1" dirty="0"/>
              <a:t>PROJECT</a:t>
            </a:r>
            <a:r>
              <a:rPr lang="en-IN" dirty="0"/>
              <a:t> table:</a:t>
            </a:r>
          </a:p>
          <a:p>
            <a:r>
              <a:rPr lang="en-IN" b="1" dirty="0"/>
              <a:t>CLIENT</a:t>
            </a:r>
            <a:r>
              <a:rPr lang="en-IN" dirty="0"/>
              <a:t> → stores client details</a:t>
            </a:r>
            <a:br>
              <a:rPr lang="en-IN" dirty="0"/>
            </a:br>
            <a:r>
              <a:rPr lang="en-IN" b="1" dirty="0"/>
              <a:t>PROJECT</a:t>
            </a:r>
            <a:r>
              <a:rPr lang="en-IN" dirty="0"/>
              <a:t> → stores project details + </a:t>
            </a:r>
            <a:r>
              <a:rPr lang="en-IN" dirty="0" err="1"/>
              <a:t>Client_ID</a:t>
            </a:r>
            <a:r>
              <a:rPr lang="en-IN" dirty="0"/>
              <a:t> as FK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7. SQL Implementation –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54F44-0315-8D4D-EC57-817449B814FF}"/>
              </a:ext>
            </a:extLst>
          </p:cNvPr>
          <p:cNvSpPr txBox="1"/>
          <p:nvPr/>
        </p:nvSpPr>
        <p:spPr>
          <a:xfrm>
            <a:off x="820973" y="1239211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DDL</a:t>
            </a:r>
            <a:r>
              <a:rPr lang="en-IN" sz="2200" dirty="0"/>
              <a:t> – Data Definition 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C4C2A8-0204-1379-E0CD-BB45F23ABD42}"/>
              </a:ext>
            </a:extLst>
          </p:cNvPr>
          <p:cNvSpPr txBox="1"/>
          <p:nvPr/>
        </p:nvSpPr>
        <p:spPr>
          <a:xfrm>
            <a:off x="1502797" y="1670098"/>
            <a:ext cx="713033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DDL is used to </a:t>
            </a:r>
            <a:r>
              <a:rPr lang="en-IN" b="1" dirty="0"/>
              <a:t>create and modify the structure of the database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3F25B-FBAE-1053-7F04-F5A31F2D4884}"/>
              </a:ext>
            </a:extLst>
          </p:cNvPr>
          <p:cNvSpPr txBox="1"/>
          <p:nvPr/>
        </p:nvSpPr>
        <p:spPr>
          <a:xfrm>
            <a:off x="909433" y="229583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Commands used in our project: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D9590-C01F-C069-266A-060D1C569C56}"/>
              </a:ext>
            </a:extLst>
          </p:cNvPr>
          <p:cNvSpPr txBox="1"/>
          <p:nvPr/>
        </p:nvSpPr>
        <p:spPr>
          <a:xfrm>
            <a:off x="1468012" y="2756766"/>
            <a:ext cx="4977516" cy="156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CREATE DATABASE</a:t>
            </a:r>
            <a:r>
              <a:rPr lang="en-IN" sz="1600" dirty="0"/>
              <a:t> – Creates the bank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CREATE TABLE</a:t>
            </a:r>
            <a:r>
              <a:rPr lang="en-IN" sz="1600" dirty="0"/>
              <a:t> – Creates all required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ALTER TABLE</a:t>
            </a:r>
            <a:r>
              <a:rPr lang="en-IN" sz="1600" dirty="0"/>
              <a:t> – Adds or modifies columns.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TRUNCATE</a:t>
            </a:r>
            <a:r>
              <a:rPr lang="en-IN" sz="1600" dirty="0"/>
              <a:t> – Removes all records while keeping the table 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DROP TABLE</a:t>
            </a:r>
            <a:r>
              <a:rPr lang="en-IN" sz="1600" dirty="0"/>
              <a:t> – Removes a table completely.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95F003-1CC7-8C74-FF20-285E3B86E8CB}"/>
              </a:ext>
            </a:extLst>
          </p:cNvPr>
          <p:cNvSpPr txBox="1"/>
          <p:nvPr/>
        </p:nvSpPr>
        <p:spPr>
          <a:xfrm>
            <a:off x="6572180" y="229583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5EA04-DD92-0100-B86C-40504C5063DC}"/>
              </a:ext>
            </a:extLst>
          </p:cNvPr>
          <p:cNvSpPr txBox="1"/>
          <p:nvPr/>
        </p:nvSpPr>
        <p:spPr>
          <a:xfrm>
            <a:off x="6572180" y="2756765"/>
            <a:ext cx="42017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CREATE TABLE CLIENT (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Client_ID</a:t>
            </a:r>
            <a:r>
              <a:rPr lang="en-US" sz="1600" dirty="0"/>
              <a:t>    INT AUTO_INCREMENT PRIMARY KEY,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Client_Name</a:t>
            </a:r>
            <a:r>
              <a:rPr lang="en-US" sz="1600" dirty="0"/>
              <a:t>  VARCHAR(100) NOT NULL,</a:t>
            </a:r>
          </a:p>
          <a:p>
            <a:r>
              <a:rPr lang="en-US" sz="1600" dirty="0"/>
              <a:t>    Email        VARCHAR(100) NOT NULL UNIQUE,</a:t>
            </a:r>
          </a:p>
          <a:p>
            <a:r>
              <a:rPr lang="en-US" sz="1600" dirty="0"/>
              <a:t>    Phone        VARCHAR(15) NOT NULL,</a:t>
            </a:r>
          </a:p>
          <a:p>
            <a:r>
              <a:rPr lang="en-US" sz="1600" dirty="0"/>
              <a:t>    Organization VARCHAR(150) NOT NULL</a:t>
            </a:r>
          </a:p>
          <a:p>
            <a:endParaRPr lang="en-US" sz="1600" dirty="0"/>
          </a:p>
          <a:p>
            <a:r>
              <a:rPr lang="en-US" sz="1600" dirty="0"/>
              <a:t>);</a:t>
            </a:r>
            <a:endParaRPr lang="en-IN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91DF1F-9283-F681-96C3-D5F089164B8C}"/>
              </a:ext>
            </a:extLst>
          </p:cNvPr>
          <p:cNvSpPr txBox="1"/>
          <p:nvPr/>
        </p:nvSpPr>
        <p:spPr>
          <a:xfrm>
            <a:off x="1547471" y="5500911"/>
            <a:ext cx="9097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b="1" dirty="0"/>
              <a:t>DDL defines the structure of our Bank Account Management System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8. SQL Implementation – DML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16A53F-A40A-696A-D487-BBDE4E67199A}"/>
              </a:ext>
            </a:extLst>
          </p:cNvPr>
          <p:cNvSpPr txBox="1"/>
          <p:nvPr/>
        </p:nvSpPr>
        <p:spPr>
          <a:xfrm>
            <a:off x="932769" y="1213386"/>
            <a:ext cx="60946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DML</a:t>
            </a:r>
            <a:r>
              <a:rPr lang="en-IN" sz="2200" dirty="0"/>
              <a:t> – Data Manipulation 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358C5-A5E6-848E-003C-6EF4FAA34551}"/>
              </a:ext>
            </a:extLst>
          </p:cNvPr>
          <p:cNvSpPr txBox="1"/>
          <p:nvPr/>
        </p:nvSpPr>
        <p:spPr>
          <a:xfrm>
            <a:off x="1420586" y="1647679"/>
            <a:ext cx="7721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DML is used to </a:t>
            </a:r>
            <a:r>
              <a:rPr lang="en-IN" b="1" dirty="0"/>
              <a:t>add, modify, and remove data</a:t>
            </a:r>
            <a:r>
              <a:rPr lang="en-IN" dirty="0"/>
              <a:t> stored in the tables.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1E5AF-F5EE-F7C8-6538-B5939377CA76}"/>
              </a:ext>
            </a:extLst>
          </p:cNvPr>
          <p:cNvSpPr txBox="1"/>
          <p:nvPr/>
        </p:nvSpPr>
        <p:spPr>
          <a:xfrm>
            <a:off x="932769" y="218747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Commands used in our project: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38F4DF-0E39-CB7D-B0C2-B009849685DF}"/>
              </a:ext>
            </a:extLst>
          </p:cNvPr>
          <p:cNvSpPr txBox="1"/>
          <p:nvPr/>
        </p:nvSpPr>
        <p:spPr>
          <a:xfrm>
            <a:off x="1420586" y="2549229"/>
            <a:ext cx="60946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INSERT</a:t>
            </a:r>
            <a:r>
              <a:rPr lang="en-IN" dirty="0"/>
              <a:t> – Adds new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UPDATE</a:t>
            </a:r>
            <a:r>
              <a:rPr lang="en-IN" dirty="0"/>
              <a:t> – Modifies existing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DELETE</a:t>
            </a:r>
            <a:r>
              <a:rPr lang="en-IN" dirty="0"/>
              <a:t> – Removes records.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9BCFD4-A1AC-C78F-6C32-313E14A4324E}"/>
              </a:ext>
            </a:extLst>
          </p:cNvPr>
          <p:cNvSpPr txBox="1"/>
          <p:nvPr/>
        </p:nvSpPr>
        <p:spPr>
          <a:xfrm>
            <a:off x="6080760" y="2176491"/>
            <a:ext cx="6094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Example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3E3DF7-1C7C-5B89-89B2-CED256956F23}"/>
              </a:ext>
            </a:extLst>
          </p:cNvPr>
          <p:cNvSpPr txBox="1"/>
          <p:nvPr/>
        </p:nvSpPr>
        <p:spPr>
          <a:xfrm>
            <a:off x="6442030" y="2476202"/>
            <a:ext cx="448178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INSERT</a:t>
            </a:r>
          </a:p>
          <a:p>
            <a:r>
              <a:rPr lang="en-IN" dirty="0"/>
              <a:t>INSERT INTO CLIENT</a:t>
            </a:r>
          </a:p>
          <a:p>
            <a:r>
              <a:rPr lang="en-IN" dirty="0"/>
              <a:t>(</a:t>
            </a:r>
            <a:r>
              <a:rPr lang="en-IN" dirty="0" err="1"/>
              <a:t>Client_Name</a:t>
            </a:r>
            <a:r>
              <a:rPr lang="en-IN" dirty="0"/>
              <a:t>, Email, Phone, Organization)</a:t>
            </a:r>
          </a:p>
          <a:p>
            <a:r>
              <a:rPr lang="en-IN" dirty="0"/>
              <a:t>VALUES</a:t>
            </a:r>
          </a:p>
          <a:p>
            <a:r>
              <a:rPr lang="en-IN" dirty="0"/>
              <a:t>('Ravi Kumar', 'ravi@gmail.com', '9876543215', 'Tech Solutions Pvt Ltd');</a:t>
            </a:r>
          </a:p>
          <a:p>
            <a:r>
              <a:rPr lang="en-IN" sz="1600" b="1" dirty="0"/>
              <a:t>UPDATE</a:t>
            </a:r>
          </a:p>
          <a:p>
            <a:r>
              <a:rPr lang="en-IN" dirty="0"/>
              <a:t>UPDATE CLIENT</a:t>
            </a:r>
          </a:p>
          <a:p>
            <a:r>
              <a:rPr lang="en-IN" dirty="0"/>
              <a:t>SET Phone = '9876543220'</a:t>
            </a:r>
          </a:p>
          <a:p>
            <a:r>
              <a:rPr lang="en-IN" dirty="0"/>
              <a:t>WHERE </a:t>
            </a:r>
            <a:r>
              <a:rPr lang="en-IN" dirty="0" err="1"/>
              <a:t>Client_ID</a:t>
            </a:r>
            <a:r>
              <a:rPr lang="en-IN" dirty="0"/>
              <a:t> = 1;</a:t>
            </a:r>
          </a:p>
          <a:p>
            <a:r>
              <a:rPr lang="en-IN" sz="1600" b="1" dirty="0"/>
              <a:t>DELETE</a:t>
            </a:r>
          </a:p>
          <a:p>
            <a:r>
              <a:rPr lang="en-IN" dirty="0"/>
              <a:t>DELETE FROM CLIENT</a:t>
            </a:r>
          </a:p>
          <a:p>
            <a:r>
              <a:rPr lang="en-IN" dirty="0"/>
              <a:t>WHERE </a:t>
            </a:r>
            <a:r>
              <a:rPr lang="en-IN" dirty="0" err="1"/>
              <a:t>Client_ID</a:t>
            </a:r>
            <a:r>
              <a:rPr lang="en-IN" dirty="0"/>
              <a:t> = 1;</a:t>
            </a:r>
          </a:p>
          <a:p>
            <a:endParaRPr lang="en-IN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E59918-3A83-D38E-4AF1-C405EE6EC9BC}"/>
              </a:ext>
            </a:extLst>
          </p:cNvPr>
          <p:cNvSpPr txBox="1"/>
          <p:nvPr/>
        </p:nvSpPr>
        <p:spPr>
          <a:xfrm>
            <a:off x="766763" y="4485013"/>
            <a:ext cx="549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DML manages the actual data stored inside our database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9. DQL – Data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00AF0-22EF-51DB-DBE5-4FCA0203644A}"/>
              </a:ext>
            </a:extLst>
          </p:cNvPr>
          <p:cNvSpPr txBox="1"/>
          <p:nvPr/>
        </p:nvSpPr>
        <p:spPr>
          <a:xfrm>
            <a:off x="990932" y="1193361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DQL</a:t>
            </a:r>
            <a:r>
              <a:rPr lang="en-IN" sz="2200" dirty="0"/>
              <a:t> – Data Query 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A22686-C6C6-130F-2D47-4F65BC7A3D4E}"/>
              </a:ext>
            </a:extLst>
          </p:cNvPr>
          <p:cNvSpPr txBox="1"/>
          <p:nvPr/>
        </p:nvSpPr>
        <p:spPr>
          <a:xfrm>
            <a:off x="1588416" y="1547066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DQL is used to </a:t>
            </a:r>
            <a:r>
              <a:rPr lang="en-IN" b="1" dirty="0"/>
              <a:t>retrieve and view data</a:t>
            </a:r>
            <a:r>
              <a:rPr lang="en-IN" dirty="0"/>
              <a:t> from the database.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DBCC6-D43B-0A34-95BD-947C8E77705E}"/>
              </a:ext>
            </a:extLst>
          </p:cNvPr>
          <p:cNvSpPr txBox="1"/>
          <p:nvPr/>
        </p:nvSpPr>
        <p:spPr>
          <a:xfrm>
            <a:off x="1036847" y="1824979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Queries implemented: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CBC10-FA0F-3B7B-9ABA-550DEDD1605F}"/>
              </a:ext>
            </a:extLst>
          </p:cNvPr>
          <p:cNvSpPr txBox="1"/>
          <p:nvPr/>
        </p:nvSpPr>
        <p:spPr>
          <a:xfrm>
            <a:off x="1673679" y="6376154"/>
            <a:ext cx="9505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DQL helps us search, filter, sort, and retrieve required information from the database.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0E156C-C6DD-E3DA-6077-185F788B75B1}"/>
              </a:ext>
            </a:extLst>
          </p:cNvPr>
          <p:cNvSpPr txBox="1"/>
          <p:nvPr/>
        </p:nvSpPr>
        <p:spPr>
          <a:xfrm>
            <a:off x="2646589" y="2472224"/>
            <a:ext cx="6898821" cy="353943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sz="1600" b="1" dirty="0"/>
              <a:t>SELECT</a:t>
            </a:r>
          </a:p>
          <a:p>
            <a:r>
              <a:rPr lang="en-IN" dirty="0"/>
              <a:t>SELECT * FROM CLIENT;</a:t>
            </a:r>
          </a:p>
          <a:p>
            <a:r>
              <a:rPr lang="en-IN" sz="1600" b="1" dirty="0"/>
              <a:t>WHERE</a:t>
            </a:r>
          </a:p>
          <a:p>
            <a:r>
              <a:rPr lang="en-IN" dirty="0"/>
              <a:t>SELECT * FROM PROJECT</a:t>
            </a:r>
          </a:p>
          <a:p>
            <a:r>
              <a:rPr lang="en-IN" dirty="0"/>
              <a:t>WHERE Status = 'In Progress';</a:t>
            </a:r>
          </a:p>
          <a:p>
            <a:r>
              <a:rPr lang="en-IN" sz="1600" b="1" dirty="0"/>
              <a:t>ORDER BY</a:t>
            </a:r>
          </a:p>
          <a:p>
            <a:r>
              <a:rPr lang="en-IN" dirty="0"/>
              <a:t>SELECT * FROM PROJECT</a:t>
            </a:r>
          </a:p>
          <a:p>
            <a:r>
              <a:rPr lang="en-IN" dirty="0"/>
              <a:t>ORDER BY </a:t>
            </a:r>
            <a:r>
              <a:rPr lang="en-IN" dirty="0" err="1"/>
              <a:t>Start_Date</a:t>
            </a:r>
            <a:r>
              <a:rPr lang="en-IN" dirty="0"/>
              <a:t> DESC;</a:t>
            </a:r>
          </a:p>
          <a:p>
            <a:r>
              <a:rPr lang="en-IN" sz="1600" b="1" dirty="0"/>
              <a:t>DISTINCT</a:t>
            </a:r>
          </a:p>
          <a:p>
            <a:r>
              <a:rPr lang="en-IN" dirty="0"/>
              <a:t>SELECT DISTINCT Designation</a:t>
            </a:r>
          </a:p>
          <a:p>
            <a:r>
              <a:rPr lang="en-IN" dirty="0"/>
              <a:t>FROM EMPLOYEE;</a:t>
            </a:r>
          </a:p>
          <a:p>
            <a:r>
              <a:rPr lang="en-IN" sz="1600" b="1" dirty="0"/>
              <a:t>LIKE</a:t>
            </a:r>
          </a:p>
          <a:p>
            <a:r>
              <a:rPr lang="en-IN" dirty="0"/>
              <a:t>SELECT * FROM CLIENT</a:t>
            </a:r>
          </a:p>
          <a:p>
            <a:r>
              <a:rPr lang="en-IN" dirty="0"/>
              <a:t>WHERE </a:t>
            </a:r>
            <a:r>
              <a:rPr lang="en-IN" dirty="0" err="1"/>
              <a:t>Client_Name</a:t>
            </a:r>
            <a:r>
              <a:rPr lang="en-IN" dirty="0"/>
              <a:t> LIKE 'A%';</a:t>
            </a:r>
          </a:p>
          <a:p>
            <a:r>
              <a:rPr lang="en-IN" sz="1600" b="1" dirty="0"/>
              <a:t>BETWEEN</a:t>
            </a:r>
          </a:p>
          <a:p>
            <a:r>
              <a:rPr lang="en-IN" dirty="0"/>
              <a:t>SELECT * FROM PROJECT</a:t>
            </a:r>
          </a:p>
          <a:p>
            <a:r>
              <a:rPr lang="en-IN" dirty="0"/>
              <a:t>WHERE </a:t>
            </a:r>
            <a:r>
              <a:rPr lang="en-IN" dirty="0" err="1"/>
              <a:t>Start_Date</a:t>
            </a:r>
            <a:r>
              <a:rPr lang="en-IN" dirty="0"/>
              <a:t> BETWEEN '2026-01-01' AND '2026-06-30';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678EE2-3C29-7C1C-F4D7-535CFBE7B01D}"/>
              </a:ext>
            </a:extLst>
          </p:cNvPr>
          <p:cNvSpPr/>
          <p:nvPr/>
        </p:nvSpPr>
        <p:spPr>
          <a:xfrm>
            <a:off x="315685" y="2900262"/>
            <a:ext cx="5502729" cy="2531947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10. SQL Queries – Joins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300081"/>
            <a:ext cx="1060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IN" dirty="0">
                <a:solidFill>
                  <a:srgbClr val="232323"/>
                </a:solidFill>
                <a:latin typeface="Aptos"/>
              </a:rPr>
              <a:t>Joins are used to </a:t>
            </a:r>
            <a:r>
              <a:rPr lang="en-IN" b="1" dirty="0">
                <a:solidFill>
                  <a:srgbClr val="232323"/>
                </a:solidFill>
                <a:latin typeface="Aptos"/>
              </a:rPr>
              <a:t>combine data from two or more related tables</a:t>
            </a:r>
            <a:r>
              <a:rPr lang="en-IN" dirty="0">
                <a:solidFill>
                  <a:srgbClr val="232323"/>
                </a:solidFill>
                <a:latin typeface="Aptos"/>
              </a:rPr>
              <a:t> using common fields.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40373-A893-B372-E9CD-CFDA6BA52ABF}"/>
              </a:ext>
            </a:extLst>
          </p:cNvPr>
          <p:cNvSpPr txBox="1"/>
          <p:nvPr/>
        </p:nvSpPr>
        <p:spPr>
          <a:xfrm>
            <a:off x="594360" y="1858498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Joins implemented in our project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E8ABD-C066-E932-7009-43ED9215B115}"/>
              </a:ext>
            </a:extLst>
          </p:cNvPr>
          <p:cNvSpPr txBox="1"/>
          <p:nvPr/>
        </p:nvSpPr>
        <p:spPr>
          <a:xfrm>
            <a:off x="960120" y="2227830"/>
            <a:ext cx="4436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INNER JOIN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E908A-6330-6861-D0CA-8FE66DC9E2EB}"/>
              </a:ext>
            </a:extLst>
          </p:cNvPr>
          <p:cNvSpPr txBox="1"/>
          <p:nvPr/>
        </p:nvSpPr>
        <p:spPr>
          <a:xfrm>
            <a:off x="960120" y="2534042"/>
            <a:ext cx="4858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Displays matching records from related tables.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B435F4-8A9E-0CBD-6BF1-887161F32352}"/>
              </a:ext>
            </a:extLst>
          </p:cNvPr>
          <p:cNvSpPr txBox="1"/>
          <p:nvPr/>
        </p:nvSpPr>
        <p:spPr>
          <a:xfrm>
            <a:off x="557348" y="3043224"/>
            <a:ext cx="51358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CLIENT.Client_Name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PROJECT.Project_Name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PROJECT.Status</a:t>
            </a:r>
            <a:endParaRPr lang="en-IN" dirty="0"/>
          </a:p>
          <a:p>
            <a:endParaRPr lang="en-IN" dirty="0"/>
          </a:p>
          <a:p>
            <a:r>
              <a:rPr lang="en-IN" dirty="0"/>
              <a:t>FROM CLIENT</a:t>
            </a:r>
          </a:p>
          <a:p>
            <a:endParaRPr lang="en-IN" dirty="0"/>
          </a:p>
          <a:p>
            <a:r>
              <a:rPr lang="en-IN" dirty="0"/>
              <a:t>INNER JOIN PROJECT</a:t>
            </a:r>
          </a:p>
          <a:p>
            <a:r>
              <a:rPr lang="en-IN" dirty="0"/>
              <a:t>    ON </a:t>
            </a:r>
            <a:r>
              <a:rPr lang="en-IN" dirty="0" err="1"/>
              <a:t>CLIENT.Client_ID</a:t>
            </a:r>
            <a:r>
              <a:rPr lang="en-IN" dirty="0"/>
              <a:t> = </a:t>
            </a:r>
            <a:r>
              <a:rPr lang="en-IN" dirty="0" err="1"/>
              <a:t>PROJECT.Client_ID</a:t>
            </a:r>
            <a:r>
              <a:rPr lang="en-IN" dirty="0"/>
              <a:t>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BA579B-887A-4077-59C7-49E315079D15}"/>
              </a:ext>
            </a:extLst>
          </p:cNvPr>
          <p:cNvSpPr/>
          <p:nvPr/>
        </p:nvSpPr>
        <p:spPr>
          <a:xfrm>
            <a:off x="6263640" y="2882376"/>
            <a:ext cx="5502729" cy="2607671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555FCA-5E43-8416-6008-4825E72E6ED7}"/>
              </a:ext>
            </a:extLst>
          </p:cNvPr>
          <p:cNvSpPr txBox="1"/>
          <p:nvPr/>
        </p:nvSpPr>
        <p:spPr>
          <a:xfrm>
            <a:off x="6615249" y="3181723"/>
            <a:ext cx="5135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PROJECT.Project_Name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TEAM.Team_Name</a:t>
            </a:r>
            <a:r>
              <a:rPr lang="en-IN" dirty="0"/>
              <a:t>,</a:t>
            </a:r>
          </a:p>
          <a:p>
            <a:r>
              <a:rPr lang="en-IN" dirty="0"/>
              <a:t>       </a:t>
            </a:r>
            <a:r>
              <a:rPr lang="en-IN" dirty="0" err="1"/>
              <a:t>TEAM.Team_Lead_ID</a:t>
            </a:r>
            <a:endParaRPr lang="en-IN" dirty="0"/>
          </a:p>
          <a:p>
            <a:endParaRPr lang="en-IN" dirty="0"/>
          </a:p>
          <a:p>
            <a:r>
              <a:rPr lang="en-IN" dirty="0"/>
              <a:t>FROM PROJECT</a:t>
            </a:r>
          </a:p>
          <a:p>
            <a:endParaRPr lang="en-IN" dirty="0"/>
          </a:p>
          <a:p>
            <a:r>
              <a:rPr lang="en-IN" dirty="0"/>
              <a:t>INNER JOIN TEAM</a:t>
            </a:r>
          </a:p>
          <a:p>
            <a:r>
              <a:rPr lang="en-IN" dirty="0"/>
              <a:t>    ON </a:t>
            </a:r>
            <a:r>
              <a:rPr lang="en-IN" dirty="0" err="1"/>
              <a:t>PROJECT.Project_ID</a:t>
            </a:r>
            <a:r>
              <a:rPr lang="en-IN" dirty="0"/>
              <a:t> = </a:t>
            </a:r>
            <a:r>
              <a:rPr lang="en-IN" dirty="0" err="1"/>
              <a:t>TEAM.Project_ID</a:t>
            </a:r>
            <a:r>
              <a:rPr lang="en-IN" dirty="0"/>
              <a:t>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B6AC85-9EA4-EDA7-55B5-D912FC635EBB}"/>
              </a:ext>
            </a:extLst>
          </p:cNvPr>
          <p:cNvSpPr txBox="1"/>
          <p:nvPr/>
        </p:nvSpPr>
        <p:spPr>
          <a:xfrm>
            <a:off x="6490063" y="2229503"/>
            <a:ext cx="2351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JOIN with Branch 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188F2F-C732-45BA-B78E-190BB7A300F9}"/>
              </a:ext>
            </a:extLst>
          </p:cNvPr>
          <p:cNvSpPr txBox="1"/>
          <p:nvPr/>
        </p:nvSpPr>
        <p:spPr>
          <a:xfrm>
            <a:off x="2276407" y="5856267"/>
            <a:ext cx="797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Joins help us view related information from multiple tables in a single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11. SQL Queries – Aggregate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91D01-F10F-4DC6-8822-5946A60114DA}"/>
              </a:ext>
            </a:extLst>
          </p:cNvPr>
          <p:cNvSpPr txBox="1"/>
          <p:nvPr/>
        </p:nvSpPr>
        <p:spPr>
          <a:xfrm>
            <a:off x="765314" y="1184946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Aggregate Functions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A40ED0-C1CA-E8BB-D0C4-9EF1DFBAFD39}"/>
              </a:ext>
            </a:extLst>
          </p:cNvPr>
          <p:cNvSpPr txBox="1"/>
          <p:nvPr/>
        </p:nvSpPr>
        <p:spPr>
          <a:xfrm>
            <a:off x="1484906" y="1642769"/>
            <a:ext cx="1008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Aggregate functions are used to </a:t>
            </a:r>
            <a:r>
              <a:rPr lang="en-IN" b="1" dirty="0"/>
              <a:t>perform calculations on multiple records</a:t>
            </a:r>
            <a:r>
              <a:rPr lang="en-IN" dirty="0"/>
              <a:t> and return a single result.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B83B53-439B-9333-9F0C-61D16817C6D6}"/>
              </a:ext>
            </a:extLst>
          </p:cNvPr>
          <p:cNvSpPr txBox="1"/>
          <p:nvPr/>
        </p:nvSpPr>
        <p:spPr>
          <a:xfrm>
            <a:off x="765314" y="2039038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Functions used: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C7E172-5BF5-2E3F-E7D3-DA8598002E56}"/>
              </a:ext>
            </a:extLst>
          </p:cNvPr>
          <p:cNvSpPr txBox="1"/>
          <p:nvPr/>
        </p:nvSpPr>
        <p:spPr>
          <a:xfrm>
            <a:off x="951506" y="2408370"/>
            <a:ext cx="60946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COUNT()</a:t>
            </a:r>
            <a:r>
              <a:rPr lang="en-IN" sz="1600" dirty="0"/>
              <a:t> – Counts the number of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SUM()</a:t>
            </a:r>
            <a:r>
              <a:rPr lang="en-IN" sz="1600" dirty="0"/>
              <a:t> – Calculates the total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AVG()</a:t>
            </a:r>
            <a:r>
              <a:rPr lang="en-IN" sz="1600" dirty="0"/>
              <a:t> – Calculates the average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MAX()</a:t>
            </a:r>
            <a:r>
              <a:rPr lang="en-IN" sz="1600" dirty="0"/>
              <a:t> – Finds the highest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MIN()</a:t>
            </a:r>
            <a:r>
              <a:rPr lang="en-IN" sz="1600" dirty="0"/>
              <a:t> – Finds the lowest value.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68F75AF-3695-33D8-CA9C-6357FA2C6AB4}"/>
              </a:ext>
            </a:extLst>
          </p:cNvPr>
          <p:cNvSpPr/>
          <p:nvPr/>
        </p:nvSpPr>
        <p:spPr>
          <a:xfrm>
            <a:off x="4937760" y="2117238"/>
            <a:ext cx="6973295" cy="46647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COUNT</a:t>
            </a:r>
          </a:p>
          <a:p>
            <a:r>
              <a:rPr lang="en-IN" dirty="0"/>
              <a:t>SELECT COUNT(*) AS </a:t>
            </a:r>
            <a:r>
              <a:rPr lang="en-IN" dirty="0" err="1"/>
              <a:t>Total_Projects</a:t>
            </a:r>
            <a:endParaRPr lang="en-IN" dirty="0"/>
          </a:p>
          <a:p>
            <a:r>
              <a:rPr lang="en-IN" dirty="0"/>
              <a:t>FROM PROJECT;</a:t>
            </a:r>
          </a:p>
          <a:p>
            <a:r>
              <a:rPr lang="en-IN" b="1" dirty="0"/>
              <a:t>COUNT – Employees</a:t>
            </a:r>
          </a:p>
          <a:p>
            <a:r>
              <a:rPr lang="en-IN" dirty="0"/>
              <a:t>SELECT COUNT(*) AS </a:t>
            </a:r>
            <a:r>
              <a:rPr lang="en-IN" dirty="0" err="1"/>
              <a:t>Total_Employees</a:t>
            </a:r>
            <a:endParaRPr lang="en-IN" dirty="0"/>
          </a:p>
          <a:p>
            <a:r>
              <a:rPr lang="en-IN" dirty="0"/>
              <a:t>FROM EMPLOYEE;</a:t>
            </a:r>
          </a:p>
          <a:p>
            <a:r>
              <a:rPr lang="en-IN" b="1" dirty="0"/>
              <a:t>AVG – Average Project Duration</a:t>
            </a:r>
          </a:p>
          <a:p>
            <a:r>
              <a:rPr lang="en-IN" dirty="0"/>
              <a:t>SELECT AVG(DATEDIFF(</a:t>
            </a:r>
            <a:r>
              <a:rPr lang="en-IN" dirty="0" err="1"/>
              <a:t>End_Date</a:t>
            </a:r>
            <a:r>
              <a:rPr lang="en-IN" dirty="0"/>
              <a:t>, </a:t>
            </a:r>
            <a:r>
              <a:rPr lang="en-IN" dirty="0" err="1"/>
              <a:t>Start_Date</a:t>
            </a:r>
            <a:r>
              <a:rPr lang="en-IN" dirty="0"/>
              <a:t>)) AS </a:t>
            </a:r>
            <a:r>
              <a:rPr lang="en-IN" dirty="0" err="1"/>
              <a:t>Average_Project_Duration</a:t>
            </a:r>
            <a:endParaRPr lang="en-IN" dirty="0"/>
          </a:p>
          <a:p>
            <a:r>
              <a:rPr lang="en-IN" dirty="0"/>
              <a:t>FROM PROJECT</a:t>
            </a:r>
          </a:p>
          <a:p>
            <a:r>
              <a:rPr lang="en-IN" dirty="0"/>
              <a:t>WHERE </a:t>
            </a:r>
            <a:r>
              <a:rPr lang="en-IN" dirty="0" err="1"/>
              <a:t>End_Date</a:t>
            </a:r>
            <a:r>
              <a:rPr lang="en-IN" dirty="0"/>
              <a:t> IS NOT NULL;</a:t>
            </a:r>
          </a:p>
          <a:p>
            <a:r>
              <a:rPr lang="en-IN" b="1" dirty="0"/>
              <a:t>MAX – Latest Project Start Date</a:t>
            </a:r>
          </a:p>
          <a:p>
            <a:r>
              <a:rPr lang="en-IN" dirty="0"/>
              <a:t>SELECT MAX(</a:t>
            </a:r>
            <a:r>
              <a:rPr lang="en-IN" dirty="0" err="1"/>
              <a:t>Start_Date</a:t>
            </a:r>
            <a:r>
              <a:rPr lang="en-IN" dirty="0"/>
              <a:t>) AS </a:t>
            </a:r>
            <a:r>
              <a:rPr lang="en-IN" dirty="0" err="1"/>
              <a:t>Latest_Project_Start</a:t>
            </a:r>
            <a:endParaRPr lang="en-IN" dirty="0"/>
          </a:p>
          <a:p>
            <a:r>
              <a:rPr lang="en-IN" dirty="0"/>
              <a:t>FROM PROJECT;</a:t>
            </a:r>
          </a:p>
          <a:p>
            <a:r>
              <a:rPr lang="en-IN" b="1" dirty="0"/>
              <a:t>MIN – Earliest Project Start Date</a:t>
            </a:r>
          </a:p>
          <a:p>
            <a:r>
              <a:rPr lang="en-IN" dirty="0"/>
              <a:t>SELECT MIN(</a:t>
            </a:r>
            <a:r>
              <a:rPr lang="en-IN" dirty="0" err="1"/>
              <a:t>Start_Date</a:t>
            </a:r>
            <a:r>
              <a:rPr lang="en-IN" dirty="0"/>
              <a:t>) AS </a:t>
            </a:r>
            <a:r>
              <a:rPr lang="en-IN" dirty="0" err="1"/>
              <a:t>Earliest_Project_Start</a:t>
            </a:r>
            <a:r>
              <a:rPr lang="en-IN" dirty="0"/>
              <a:t> FROM PROJECT;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12. CRUD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36597-FD5B-CA27-C091-68651FD78631}"/>
              </a:ext>
            </a:extLst>
          </p:cNvPr>
          <p:cNvSpPr txBox="1"/>
          <p:nvPr/>
        </p:nvSpPr>
        <p:spPr>
          <a:xfrm>
            <a:off x="868680" y="1206812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CRUD Operations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28E2E-477A-175F-ED2B-E80ADF7A0C4A}"/>
              </a:ext>
            </a:extLst>
          </p:cNvPr>
          <p:cNvSpPr txBox="1"/>
          <p:nvPr/>
        </p:nvSpPr>
        <p:spPr>
          <a:xfrm>
            <a:off x="1534601" y="1637699"/>
            <a:ext cx="7853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CRUD represents the four basic operations performed on database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BAA9C-F304-6A56-D4D4-45E9B938C62D}"/>
              </a:ext>
            </a:extLst>
          </p:cNvPr>
          <p:cNvSpPr txBox="1"/>
          <p:nvPr/>
        </p:nvSpPr>
        <p:spPr>
          <a:xfrm>
            <a:off x="987950" y="2013196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 – Create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0163A1-9DA6-FAA8-478E-85B251B56603}"/>
              </a:ext>
            </a:extLst>
          </p:cNvPr>
          <p:cNvSpPr txBox="1"/>
          <p:nvPr/>
        </p:nvSpPr>
        <p:spPr>
          <a:xfrm>
            <a:off x="1266246" y="2367635"/>
            <a:ext cx="3859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INSERT INTO CLIENT</a:t>
            </a:r>
          </a:p>
          <a:p>
            <a:r>
              <a:rPr lang="en-IN" sz="1600" dirty="0"/>
              <a:t>VALUES (6, 'Ravi Kumar', 'ravi@gmail.com',</a:t>
            </a:r>
          </a:p>
          <a:p>
            <a:r>
              <a:rPr lang="en-IN" sz="1600" dirty="0"/>
              <a:t>        '9876543215', 'Tech Solutions Pvt Ltd');</a:t>
            </a:r>
            <a:endParaRPr lang="en-IN" sz="1600" dirty="0">
              <a:latin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D1D3FC-4A76-2BF8-2800-9A4236D13882}"/>
              </a:ext>
            </a:extLst>
          </p:cNvPr>
          <p:cNvSpPr txBox="1"/>
          <p:nvPr/>
        </p:nvSpPr>
        <p:spPr>
          <a:xfrm>
            <a:off x="5461551" y="2010079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R – Read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0D877B-90CB-B008-9D92-3EF22E836295}"/>
              </a:ext>
            </a:extLst>
          </p:cNvPr>
          <p:cNvSpPr txBox="1"/>
          <p:nvPr/>
        </p:nvSpPr>
        <p:spPr>
          <a:xfrm>
            <a:off x="5793518" y="2367635"/>
            <a:ext cx="6094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/>
              <a:t>SELECT * FROM CLIENT;</a:t>
            </a:r>
            <a:endParaRPr lang="en-IN" sz="1600" dirty="0">
              <a:latin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0991B5-5E57-87D6-2137-2A93C04DA028}"/>
              </a:ext>
            </a:extLst>
          </p:cNvPr>
          <p:cNvSpPr txBox="1"/>
          <p:nvPr/>
        </p:nvSpPr>
        <p:spPr>
          <a:xfrm>
            <a:off x="987950" y="3544488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U – Update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68072E-3DEA-3ECD-6933-1DE601BD9AA1}"/>
              </a:ext>
            </a:extLst>
          </p:cNvPr>
          <p:cNvSpPr txBox="1"/>
          <p:nvPr/>
        </p:nvSpPr>
        <p:spPr>
          <a:xfrm>
            <a:off x="1266246" y="3936086"/>
            <a:ext cx="6094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UPDATE CLIENT</a:t>
            </a:r>
          </a:p>
          <a:p>
            <a:r>
              <a:rPr lang="en-US" sz="1600" dirty="0"/>
              <a:t>SET Phone = '9876543220'</a:t>
            </a:r>
          </a:p>
          <a:p>
            <a:r>
              <a:rPr lang="en-US" sz="1600" dirty="0"/>
              <a:t>WHERE </a:t>
            </a:r>
            <a:r>
              <a:rPr lang="en-US" sz="1600" dirty="0" err="1"/>
              <a:t>Client_ID</a:t>
            </a:r>
            <a:r>
              <a:rPr lang="en-US" sz="1600" dirty="0"/>
              <a:t> = 6;</a:t>
            </a:r>
            <a:endParaRPr lang="en-IN" sz="1600" dirty="0">
              <a:latin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5A7A58-D1A4-47F4-5E6E-52DF7BC246B1}"/>
              </a:ext>
            </a:extLst>
          </p:cNvPr>
          <p:cNvSpPr txBox="1"/>
          <p:nvPr/>
        </p:nvSpPr>
        <p:spPr>
          <a:xfrm>
            <a:off x="5459563" y="2737391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 – Delete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CADECF-0B46-8C1D-E8FF-DC42ACB82F0B}"/>
              </a:ext>
            </a:extLst>
          </p:cNvPr>
          <p:cNvSpPr txBox="1"/>
          <p:nvPr/>
        </p:nvSpPr>
        <p:spPr>
          <a:xfrm>
            <a:off x="5841887" y="3236711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DELETE FROM CLIENT</a:t>
            </a:r>
          </a:p>
          <a:p>
            <a:r>
              <a:rPr lang="en-US" sz="1600" dirty="0"/>
              <a:t>WHERE </a:t>
            </a:r>
            <a:r>
              <a:rPr lang="en-US" sz="1600" dirty="0" err="1"/>
              <a:t>Client_ID</a:t>
            </a:r>
            <a:r>
              <a:rPr lang="en-US" sz="1600" dirty="0"/>
              <a:t> = 6;</a:t>
            </a:r>
            <a:endParaRPr lang="en-IN" sz="1600" dirty="0">
              <a:latin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26308F-035B-8FA4-349E-91BC27128591}"/>
              </a:ext>
            </a:extLst>
          </p:cNvPr>
          <p:cNvSpPr txBox="1"/>
          <p:nvPr/>
        </p:nvSpPr>
        <p:spPr>
          <a:xfrm>
            <a:off x="1447136" y="5281856"/>
            <a:ext cx="893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CRUD operations allow us to add, view, modify, and remove records from the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9BE299-756B-28F8-A110-9DEC0110A3FE}"/>
              </a:ext>
            </a:extLst>
          </p:cNvPr>
          <p:cNvSpPr/>
          <p:nvPr/>
        </p:nvSpPr>
        <p:spPr>
          <a:xfrm>
            <a:off x="1548184" y="2635400"/>
            <a:ext cx="4985468" cy="30180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13.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37786-2A09-4512-2490-08C27021841C}"/>
              </a:ext>
            </a:extLst>
          </p:cNvPr>
          <p:cNvSpPr txBox="1"/>
          <p:nvPr/>
        </p:nvSpPr>
        <p:spPr>
          <a:xfrm>
            <a:off x="848802" y="1125706"/>
            <a:ext cx="6094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Database Views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286B0-3FB6-D81E-8623-2D5D65329503}"/>
              </a:ext>
            </a:extLst>
          </p:cNvPr>
          <p:cNvSpPr txBox="1"/>
          <p:nvPr/>
        </p:nvSpPr>
        <p:spPr>
          <a:xfrm>
            <a:off x="1375576" y="1494356"/>
            <a:ext cx="70110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 </a:t>
            </a:r>
            <a:r>
              <a:rPr lang="en-IN" b="1" dirty="0"/>
              <a:t>View</a:t>
            </a:r>
            <a:r>
              <a:rPr lang="en-IN" dirty="0"/>
              <a:t> is a virtual table created from one or more tables.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It helps us </a:t>
            </a:r>
            <a:r>
              <a:rPr lang="en-IN" b="1" dirty="0"/>
              <a:t>display related information without storing duplicate data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7FBE8F-0479-B1D7-4795-3E87623065F3}"/>
              </a:ext>
            </a:extLst>
          </p:cNvPr>
          <p:cNvSpPr txBox="1"/>
          <p:nvPr/>
        </p:nvSpPr>
        <p:spPr>
          <a:xfrm>
            <a:off x="848802" y="2154715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View implemented in our project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7B1B6-DA13-F14D-4762-E0BE27410D5D}"/>
              </a:ext>
            </a:extLst>
          </p:cNvPr>
          <p:cNvSpPr txBox="1"/>
          <p:nvPr/>
        </p:nvSpPr>
        <p:spPr>
          <a:xfrm>
            <a:off x="2107094" y="2714155"/>
            <a:ext cx="386764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CREATE VIEW Project_Client_View AS</a:t>
            </a:r>
          </a:p>
          <a:p>
            <a:endParaRPr lang="en-US" sz="1400" dirty="0"/>
          </a:p>
          <a:p>
            <a:r>
              <a:rPr lang="en-US" sz="1400" dirty="0"/>
              <a:t>SELECT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C.Client_Name</a:t>
            </a:r>
            <a:r>
              <a:rPr lang="en-US" sz="1400" dirty="0"/>
              <a:t>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P.Project_Name</a:t>
            </a:r>
            <a:r>
              <a:rPr lang="en-US" sz="1400" dirty="0"/>
              <a:t>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P.Start_Date</a:t>
            </a:r>
            <a:r>
              <a:rPr lang="en-US" sz="1400" dirty="0"/>
              <a:t>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P.End_Date</a:t>
            </a:r>
            <a:r>
              <a:rPr lang="en-US" sz="1400" dirty="0"/>
              <a:t>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P.Status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FROM CLIENT C</a:t>
            </a:r>
          </a:p>
          <a:p>
            <a:endParaRPr lang="en-US" sz="1400" dirty="0"/>
          </a:p>
          <a:p>
            <a:r>
              <a:rPr lang="en-US" sz="1400" dirty="0"/>
              <a:t>INNER JOIN PROJECT P</a:t>
            </a:r>
          </a:p>
          <a:p>
            <a:r>
              <a:rPr lang="en-US" sz="1400" dirty="0"/>
              <a:t>    ON </a:t>
            </a:r>
            <a:r>
              <a:rPr lang="en-US" sz="1400" dirty="0" err="1"/>
              <a:t>C.Client_ID</a:t>
            </a:r>
            <a:r>
              <a:rPr lang="en-US" sz="1400" dirty="0"/>
              <a:t> = </a:t>
            </a:r>
            <a:r>
              <a:rPr lang="en-US" sz="1400" dirty="0" err="1"/>
              <a:t>P.Client_ID</a:t>
            </a:r>
            <a:r>
              <a:rPr lang="en-US" sz="1400" dirty="0"/>
              <a:t>;</a:t>
            </a:r>
            <a:endParaRPr lang="en-IN" sz="1400" dirty="0">
              <a:latin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A9B47-E2B9-8D7B-6D37-75D156DE54AE}"/>
              </a:ext>
            </a:extLst>
          </p:cNvPr>
          <p:cNvSpPr txBox="1"/>
          <p:nvPr/>
        </p:nvSpPr>
        <p:spPr>
          <a:xfrm>
            <a:off x="7037569" y="3203592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display the View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009A0F-D682-EB4E-CE58-AD1B57F4DDE8}"/>
              </a:ext>
            </a:extLst>
          </p:cNvPr>
          <p:cNvSpPr txBox="1"/>
          <p:nvPr/>
        </p:nvSpPr>
        <p:spPr>
          <a:xfrm>
            <a:off x="7507469" y="3533439"/>
            <a:ext cx="42474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SELECT * FROM Project_Client_View;</a:t>
            </a:r>
            <a:endParaRPr lang="en-IN" sz="1400" dirty="0">
              <a:latin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7183E9-D7E1-88B5-D2B3-D61C01F3897D}"/>
              </a:ext>
            </a:extLst>
          </p:cNvPr>
          <p:cNvSpPr txBox="1"/>
          <p:nvPr/>
        </p:nvSpPr>
        <p:spPr>
          <a:xfrm>
            <a:off x="1641730" y="5993562"/>
            <a:ext cx="9322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Our view combines Customer, Account, and Branch information into one easy-to-use result.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72FFA2-5BF4-8A73-57DA-5D5119E19701}"/>
              </a:ext>
            </a:extLst>
          </p:cNvPr>
          <p:cNvSpPr txBox="1"/>
          <p:nvPr/>
        </p:nvSpPr>
        <p:spPr>
          <a:xfrm>
            <a:off x="6533652" y="4275412"/>
            <a:ext cx="5739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Customer + Account + Branch → </a:t>
            </a:r>
            <a:r>
              <a:rPr lang="en-IN" sz="1600" b="1" dirty="0" err="1"/>
              <a:t>Customer_Account_View</a:t>
            </a:r>
            <a:endParaRPr lang="en-IN" sz="1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14. Data Integrity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616285"/>
              </p:ext>
            </p:extLst>
          </p:nvPr>
        </p:nvGraphicFramePr>
        <p:xfrm>
          <a:off x="594360" y="1325880"/>
          <a:ext cx="10972800" cy="44283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1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How it is maintained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Integrity / Validation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Entity Integrity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 keys prevent duplicate or NULL identifiers.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Referential Integrity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Foreign keys prevent invalid references between related tables.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Uniqueness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constraints prevent duplicate Email and Team_Name values.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Mandatory Fields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NULL constraints ensure required fields are provided.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Domain Validation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 constraints ensure valid values, such as </a:t>
                      </a:r>
                      <a:r>
                        <a:rPr lang="en-IN" dirty="0" err="1"/>
                        <a:t>End_Date</a:t>
                      </a:r>
                      <a:r>
                        <a:rPr lang="en-IN" dirty="0"/>
                        <a:t> ≥ </a:t>
                      </a:r>
                      <a:r>
                        <a:rPr lang="en-IN" dirty="0" err="1"/>
                        <a:t>Start_Date</a:t>
                      </a:r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8" name="Picture 7" descr="logo">
            <a:extLst>
              <a:ext uri="{FF2B5EF4-FFF2-40B4-BE49-F238E27FC236}">
                <a16:creationId xmlns:a16="http://schemas.microsoft.com/office/drawing/2014/main" id="{5E097952-7742-3F19-6123-F8750795E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037" y="184188"/>
            <a:ext cx="2038086" cy="661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15. SQL Output and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7EA569-F07F-5FA0-9F62-9F852184C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40" y="1224541"/>
            <a:ext cx="10166220" cy="5108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A109B6-C347-6FF7-1E11-DA4F3473A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083564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16. Query Coverage for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849081"/>
              </p:ext>
            </p:extLst>
          </p:nvPr>
        </p:nvGraphicFramePr>
        <p:xfrm>
          <a:off x="594360" y="1280160"/>
          <a:ext cx="10972800" cy="4280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>
                    <a:solidFill>
                      <a:srgbClr val="182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Demonstration</a:t>
                      </a:r>
                      <a:endParaRPr lang="en-IN"/>
                    </a:p>
                  </a:txBody>
                  <a:tcPr anchor="ctr">
                    <a:solidFill>
                      <a:srgbClr val="18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Basic SELECT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3–5 queries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Filtering / Sorting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3–5 queries using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WHERE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LIKE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BETWEEN</a:t>
                      </a:r>
                      <a:r>
                        <a:rPr lang="en-IN"/>
                        <a:t>, and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ORDER BY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Joins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5+ meaningful joins / multi-table queries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Aggregation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5+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COUNT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AVG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MIN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MAX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en-IN"/>
                        <a:t> queries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GROUP BY / HAVING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2–3 queries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CRUD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 least one example for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INSERT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UPDATE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DELETE</a:t>
                      </a:r>
                      <a:r>
                        <a:rPr lang="en-IN" dirty="0"/>
                        <a:t>, and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SELECT</a:t>
                      </a:r>
                      <a:endParaRPr lang="en-IN" dirty="0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Views</a:t>
                      </a:r>
                      <a:endParaRPr lang="en-IN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1–2 meaningful 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Validation</a:t>
                      </a:r>
                      <a:endParaRPr lang="en-IN"/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 least 2 constraint demonstrations</a:t>
                      </a:r>
                    </a:p>
                  </a:txBody>
                  <a:tcPr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704B59-0D75-623D-D98B-0E9E88B4F803}"/>
              </a:ext>
            </a:extLst>
          </p:cNvPr>
          <p:cNvSpPr txBox="1"/>
          <p:nvPr/>
        </p:nvSpPr>
        <p:spPr>
          <a:xfrm>
            <a:off x="713630" y="5630715"/>
            <a:ext cx="10853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Our database demonstrates SQL operations from basic retrieval to advanced queries, CRUD, views, and data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24769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7</a:t>
            </a:r>
            <a:r>
              <a:rPr dirty="0"/>
              <a:t>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7476" y="6446520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dirty="0"/>
              <a:t>1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B3292-83CA-0CB9-915C-67CDCD46E431}"/>
              </a:ext>
            </a:extLst>
          </p:cNvPr>
          <p:cNvSpPr txBox="1"/>
          <p:nvPr/>
        </p:nvSpPr>
        <p:spPr>
          <a:xfrm>
            <a:off x="944217" y="1680787"/>
            <a:ext cx="102730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Successfully designed and implemented the </a:t>
            </a:r>
            <a:r>
              <a:rPr lang="en-IN" b="1" dirty="0"/>
              <a:t>Software Database Management System</a:t>
            </a:r>
            <a:r>
              <a:rPr lang="en-IN" dirty="0"/>
              <a:t> using MySQL.</a:t>
            </a:r>
          </a:p>
          <a:p>
            <a:r>
              <a:rPr lang="en-IN" dirty="0"/>
              <a:t>• The system manages </a:t>
            </a:r>
            <a:r>
              <a:rPr lang="en-IN" b="1" dirty="0"/>
              <a:t>Client, Project, Employee, Team, </a:t>
            </a:r>
            <a:r>
              <a:rPr lang="en-IN" b="1" dirty="0" err="1"/>
              <a:t>Software_Product</a:t>
            </a:r>
            <a:r>
              <a:rPr lang="en-IN" b="1" dirty="0"/>
              <a:t>, Requirement, and Issue</a:t>
            </a:r>
            <a:r>
              <a:rPr lang="en-IN" dirty="0"/>
              <a:t> data.</a:t>
            </a:r>
          </a:p>
          <a:p>
            <a:r>
              <a:rPr lang="en-IN" dirty="0"/>
              <a:t>• </a:t>
            </a:r>
            <a:r>
              <a:rPr lang="en-IN" b="1" dirty="0"/>
              <a:t>Primary Keys and Foreign Keys</a:t>
            </a:r>
            <a:r>
              <a:rPr lang="en-IN" dirty="0"/>
              <a:t> maintain relationships between related tables.</a:t>
            </a:r>
          </a:p>
          <a:p>
            <a:r>
              <a:rPr lang="en-IN" dirty="0"/>
              <a:t>• </a:t>
            </a:r>
            <a:r>
              <a:rPr lang="en-IN" b="1" dirty="0"/>
              <a:t>Normalization up to 3NF</a:t>
            </a:r>
            <a:r>
              <a:rPr lang="en-IN" dirty="0"/>
              <a:t> reduces data redundancy and keeps the database organized.</a:t>
            </a:r>
          </a:p>
          <a:p>
            <a:r>
              <a:rPr lang="en-IN" dirty="0"/>
              <a:t>• Implemented </a:t>
            </a:r>
            <a:r>
              <a:rPr lang="en-IN" b="1" dirty="0"/>
              <a:t>DDL, DML, DQL, CRUD, Joins, Aggregate Functions, GROUP BY, HAVING, and Views</a:t>
            </a:r>
            <a:r>
              <a:rPr lang="en-IN" dirty="0"/>
              <a:t>.</a:t>
            </a:r>
          </a:p>
          <a:p>
            <a:r>
              <a:rPr lang="en-IN" dirty="0"/>
              <a:t>• </a:t>
            </a:r>
            <a:r>
              <a:rPr lang="en-IN" b="1" dirty="0"/>
              <a:t>Constraints and validation</a:t>
            </a:r>
            <a:r>
              <a:rPr lang="en-IN" dirty="0"/>
              <a:t> help maintain accurate and consistent project data.</a:t>
            </a:r>
          </a:p>
          <a:p>
            <a:r>
              <a:rPr lang="en-IN" dirty="0"/>
              <a:t>• The system provides a structured foundation for </a:t>
            </a:r>
            <a:r>
              <a:rPr lang="en-IN" b="1" dirty="0"/>
              <a:t>efficient software project management, tracking, and repo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558D5-8C6B-2220-9492-79DE711E8AC3}"/>
              </a:ext>
            </a:extLst>
          </p:cNvPr>
          <p:cNvSpPr txBox="1"/>
          <p:nvPr/>
        </p:nvSpPr>
        <p:spPr>
          <a:xfrm>
            <a:off x="696402" y="4235771"/>
            <a:ext cx="11341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“Our project provides an organized, connected, and reliable database for managing important banking information.”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40877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8</a:t>
            </a:r>
            <a:r>
              <a:rPr dirty="0"/>
              <a:t>.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7476" y="6446520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IN" dirty="0"/>
              <a:t>19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F4F30-E9D7-CCFF-344E-0A1276FFA0BC}"/>
              </a:ext>
            </a:extLst>
          </p:cNvPr>
          <p:cNvSpPr txBox="1"/>
          <p:nvPr/>
        </p:nvSpPr>
        <p:spPr>
          <a:xfrm>
            <a:off x="1081377" y="1470434"/>
            <a:ext cx="98437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Web Application Integration</a:t>
            </a:r>
            <a:r>
              <a:rPr lang="en-IN" dirty="0"/>
              <a:t> – Connect the database with a web-based software project management application.</a:t>
            </a:r>
          </a:p>
          <a:p>
            <a:r>
              <a:rPr lang="en-IN" dirty="0"/>
              <a:t>• </a:t>
            </a:r>
            <a:r>
              <a:rPr lang="en-IN" b="1" dirty="0"/>
              <a:t>Team Management</a:t>
            </a:r>
            <a:r>
              <a:rPr lang="en-IN" dirty="0"/>
              <a:t> – Add features for assigning employees to teams and managing team roles.</a:t>
            </a:r>
          </a:p>
          <a:p>
            <a:r>
              <a:rPr lang="en-IN" dirty="0"/>
              <a:t>• </a:t>
            </a:r>
            <a:r>
              <a:rPr lang="en-IN" b="1" dirty="0"/>
              <a:t>Project Tracking</a:t>
            </a:r>
            <a:r>
              <a:rPr lang="en-IN" dirty="0"/>
              <a:t> – Add detailed project progress, deadlines, status, and resource tracking.</a:t>
            </a:r>
          </a:p>
          <a:p>
            <a:r>
              <a:rPr lang="en-IN" dirty="0"/>
              <a:t>• </a:t>
            </a:r>
            <a:r>
              <a:rPr lang="en-IN" b="1" dirty="0"/>
              <a:t>Issue Management</a:t>
            </a:r>
            <a:r>
              <a:rPr lang="en-IN" dirty="0"/>
              <a:t> – Provide advanced issue assignment, priority, severity, and status tracking.</a:t>
            </a:r>
          </a:p>
          <a:p>
            <a:r>
              <a:rPr lang="en-IN" dirty="0"/>
              <a:t>• </a:t>
            </a:r>
            <a:r>
              <a:rPr lang="en-IN" b="1" dirty="0"/>
              <a:t>Reports &amp; Analytics</a:t>
            </a:r>
            <a:r>
              <a:rPr lang="en-IN" dirty="0"/>
              <a:t> – Generate detailed project, employee, requirement, product, and issue reports.</a:t>
            </a:r>
          </a:p>
          <a:p>
            <a:r>
              <a:rPr lang="en-IN" dirty="0"/>
              <a:t>• </a:t>
            </a:r>
            <a:r>
              <a:rPr lang="en-IN" b="1" dirty="0"/>
              <a:t>User Authentication</a:t>
            </a:r>
            <a:r>
              <a:rPr lang="en-IN" dirty="0"/>
              <a:t> – Add secure login and role-based access for clients, employees, and administrators.</a:t>
            </a:r>
          </a:p>
          <a:p>
            <a:r>
              <a:rPr lang="en-IN" dirty="0"/>
              <a:t>• </a:t>
            </a:r>
            <a:r>
              <a:rPr lang="en-IN" b="1" dirty="0"/>
              <a:t>Backup &amp; Recovery</a:t>
            </a:r>
            <a:r>
              <a:rPr lang="en-IN" dirty="0"/>
              <a:t> – Implement regular database backup and recovery mechanisms.</a:t>
            </a:r>
          </a:p>
          <a:p>
            <a:r>
              <a:rPr lang="en-IN" dirty="0"/>
              <a:t>• </a:t>
            </a:r>
            <a:r>
              <a:rPr lang="en-IN" b="1" dirty="0"/>
              <a:t>Audit Logging</a:t>
            </a:r>
            <a:r>
              <a:rPr lang="en-IN" dirty="0"/>
              <a:t> – Track important changes made to project, requirement, employee, and issue records.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FE38A-DC97-8D6A-8D9A-BEE6046F288E}"/>
              </a:ext>
            </a:extLst>
          </p:cNvPr>
          <p:cNvSpPr txBox="1"/>
          <p:nvPr/>
        </p:nvSpPr>
        <p:spPr>
          <a:xfrm>
            <a:off x="769289" y="4922144"/>
            <a:ext cx="106607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“Future enhancements can extend the database into a complete and secure banking management application.”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8079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</a:t>
            </a:r>
            <a:r>
              <a:rPr lang="en-US" dirty="0"/>
              <a:t>9</a:t>
            </a:r>
            <a:r>
              <a:rPr dirty="0"/>
              <a:t>. Live Database Demonstration – Recommended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1. Open the database / schema.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2. Show the six tables and relationships.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3. Show table structures and constraints.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4. Display inserted sample data.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5. Demonstrate DDL, DML, and DQL.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6. Demonstrate CRUD operations.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7. Run joins and aggregate queries.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8. Demonstrate a view.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9. Demonstrate validation / integrity.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dirty="0"/>
              <a:t>10. Explain normalization up to 3NF and answer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7476" y="6446520"/>
            <a:ext cx="3225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rPr lang="en-IN" dirty="0"/>
              <a:t>20</a:t>
            </a:r>
          </a:p>
        </p:txBody>
      </p:sp>
      <p:pic>
        <p:nvPicPr>
          <p:cNvPr id="8" name="Picture 7" descr="logo">
            <a:extLst>
              <a:ext uri="{FF2B5EF4-FFF2-40B4-BE49-F238E27FC236}">
                <a16:creationId xmlns:a16="http://schemas.microsoft.com/office/drawing/2014/main" id="{BD4F82A9-DCE3-F01D-EBA1-8E9D01746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57" y="217665"/>
            <a:ext cx="2038086" cy="661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2531</Words>
  <Application>Microsoft Office PowerPoint</Application>
  <PresentationFormat>Widescreen</PresentationFormat>
  <Paragraphs>388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Karthikeya Yalagandala</dc:creator>
  <cp:keywords/>
  <dc:description>generated using python-pptx</dc:description>
  <cp:lastModifiedBy>sai ganesh</cp:lastModifiedBy>
  <cp:revision>57</cp:revision>
  <dcterms:created xsi:type="dcterms:W3CDTF">2013-01-27T09:14:16Z</dcterms:created>
  <dcterms:modified xsi:type="dcterms:W3CDTF">2026-10-07T05:46:32Z</dcterms:modified>
  <cp:category/>
</cp:coreProperties>
</file>